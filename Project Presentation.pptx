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56" r:id="rId2"/>
    <p:sldId id="257" r:id="rId3"/>
    <p:sldId id="258" r:id="rId4"/>
    <p:sldId id="259" r:id="rId5"/>
    <p:sldId id="260" r:id="rId6"/>
    <p:sldId id="264" r:id="rId7"/>
    <p:sldId id="261" r:id="rId8"/>
    <p:sldId id="262" r:id="rId9"/>
    <p:sldId id="263" r:id="rId10"/>
    <p:sldId id="270" r:id="rId11"/>
    <p:sldId id="272" r:id="rId12"/>
    <p:sldId id="273" r:id="rId13"/>
    <p:sldId id="274" r:id="rId14"/>
    <p:sldId id="275" r:id="rId15"/>
    <p:sldId id="276" r:id="rId16"/>
    <p:sldId id="271" r:id="rId17"/>
    <p:sldId id="265" r:id="rId18"/>
    <p:sldId id="266" r:id="rId19"/>
    <p:sldId id="268" r:id="rId20"/>
    <p:sldId id="269" r:id="rId21"/>
    <p:sldId id="267" r:id="rId22"/>
    <p:sldId id="277" r:id="rId23"/>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4" autoAdjust="0"/>
    <p:restoredTop sz="94660"/>
  </p:normalViewPr>
  <p:slideViewPr>
    <p:cSldViewPr snapToGrid="0">
      <p:cViewPr varScale="1">
        <p:scale>
          <a:sx n="108" d="100"/>
          <a:sy n="108" d="100"/>
        </p:scale>
        <p:origin x="7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0333BA-FF8F-4538-B8A7-1C107A3E2CC2}" type="datetimeFigureOut">
              <a:rPr lang="tr-TR" smtClean="0"/>
              <a:t>26.12.2021</a:t>
            </a:fld>
            <a:endParaRPr lang="tr-TR"/>
          </a:p>
        </p:txBody>
      </p:sp>
      <p:sp>
        <p:nvSpPr>
          <p:cNvPr id="4" name="Slayt Görüntüsü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6" name="Alt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60F2CD-660E-4354-9D75-7CF20C4079DC}" type="slidenum">
              <a:rPr lang="tr-TR" smtClean="0"/>
              <a:t>‹#›</a:t>
            </a:fld>
            <a:endParaRPr lang="tr-TR"/>
          </a:p>
        </p:txBody>
      </p:sp>
    </p:spTree>
    <p:extLst>
      <p:ext uri="{BB962C8B-B14F-4D97-AF65-F5344CB8AC3E}">
        <p14:creationId xmlns:p14="http://schemas.microsoft.com/office/powerpoint/2010/main" val="2791261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2260F2CD-660E-4354-9D75-7CF20C4079DC}" type="slidenum">
              <a:rPr lang="tr-TR" smtClean="0"/>
              <a:t>5</a:t>
            </a:fld>
            <a:endParaRPr lang="tr-TR"/>
          </a:p>
        </p:txBody>
      </p:sp>
    </p:spTree>
    <p:extLst>
      <p:ext uri="{BB962C8B-B14F-4D97-AF65-F5344CB8AC3E}">
        <p14:creationId xmlns:p14="http://schemas.microsoft.com/office/powerpoint/2010/main" val="11659113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Slide Number Placeholder 3"/>
          <p:cNvSpPr>
            <a:spLocks noGrp="1"/>
          </p:cNvSpPr>
          <p:nvPr>
            <p:ph type="sldNum" sz="quarter" idx="5"/>
          </p:nvPr>
        </p:nvSpPr>
        <p:spPr/>
        <p:txBody>
          <a:bodyPr/>
          <a:lstStyle/>
          <a:p>
            <a:fld id="{2260F2CD-660E-4354-9D75-7CF20C4079DC}" type="slidenum">
              <a:rPr lang="tr-TR" smtClean="0"/>
              <a:t>21</a:t>
            </a:fld>
            <a:endParaRPr lang="tr-TR"/>
          </a:p>
        </p:txBody>
      </p:sp>
    </p:spTree>
    <p:extLst>
      <p:ext uri="{BB962C8B-B14F-4D97-AF65-F5344CB8AC3E}">
        <p14:creationId xmlns:p14="http://schemas.microsoft.com/office/powerpoint/2010/main" val="3849082886"/>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tr-TR"/>
              <a:t>Asıl başlık stili için tıklatın</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D2E38427-6D50-4B42-B775-87E79514E06F}" type="datetimeFigureOut">
              <a:rPr lang="tr-TR" smtClean="0"/>
              <a:t>26.12.2021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2D1A3080-76A9-44E4-A68D-110A7489437B}" type="slidenum">
              <a:rPr lang="tr-TR" smtClean="0"/>
              <a:t>‹#›</a:t>
            </a:fld>
            <a:endParaRPr lang="tr-TR"/>
          </a:p>
        </p:txBody>
      </p:sp>
    </p:spTree>
    <p:extLst>
      <p:ext uri="{BB962C8B-B14F-4D97-AF65-F5344CB8AC3E}">
        <p14:creationId xmlns:p14="http://schemas.microsoft.com/office/powerpoint/2010/main" val="37490809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Content Placeholder 2"/>
          <p:cNvSpPr>
            <a:spLocks noGrp="1"/>
          </p:cNvSpPr>
          <p:nvPr>
            <p:ph idx="1"/>
          </p:nvPr>
        </p:nvSpPr>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D2E38427-6D50-4B42-B775-87E79514E06F}" type="datetimeFigureOut">
              <a:rPr lang="tr-TR" smtClean="0"/>
              <a:t>26.12.2021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2D1A3080-76A9-44E4-A68D-110A7489437B}" type="slidenum">
              <a:rPr lang="tr-TR" smtClean="0"/>
              <a:t>‹#›</a:t>
            </a:fld>
            <a:endParaRPr lang="tr-TR"/>
          </a:p>
        </p:txBody>
      </p:sp>
    </p:spTree>
    <p:extLst>
      <p:ext uri="{BB962C8B-B14F-4D97-AF65-F5344CB8AC3E}">
        <p14:creationId xmlns:p14="http://schemas.microsoft.com/office/powerpoint/2010/main" val="2382187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bilgisi">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tr-TR"/>
              <a:t>Asıl başlık stili için tıklatın</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a:xfrm>
            <a:off x="8593667" y="6272784"/>
            <a:ext cx="2644309" cy="365125"/>
          </a:xfrm>
        </p:spPr>
        <p:txBody>
          <a:bodyPr/>
          <a:lstStyle/>
          <a:p>
            <a:fld id="{D2E38427-6D50-4B42-B775-87E79514E06F}" type="datetimeFigureOut">
              <a:rPr lang="tr-TR" smtClean="0"/>
              <a:t>26.12.2021</a:t>
            </a:fld>
            <a:endParaRPr lang="tr-TR"/>
          </a:p>
        </p:txBody>
      </p:sp>
      <p:sp>
        <p:nvSpPr>
          <p:cNvPr id="5" name="Footer Placeholder 4"/>
          <p:cNvSpPr>
            <a:spLocks noGrp="1"/>
          </p:cNvSpPr>
          <p:nvPr>
            <p:ph type="ftr" sz="quarter" idx="11"/>
          </p:nvPr>
        </p:nvSpPr>
        <p:spPr>
          <a:xfrm>
            <a:off x="2182708" y="6272784"/>
            <a:ext cx="6327648" cy="365125"/>
          </a:xfrm>
        </p:spPr>
        <p:txBody>
          <a:bodyPr/>
          <a:lstStyle/>
          <a:p>
            <a:endParaRPr lang="tr-TR"/>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2D1A3080-76A9-44E4-A68D-110A7489437B}" type="slidenum">
              <a:rPr lang="tr-TR" smtClean="0"/>
              <a:t>‹#›</a:t>
            </a:fld>
            <a:endParaRPr lang="tr-TR"/>
          </a:p>
        </p:txBody>
      </p:sp>
    </p:spTree>
    <p:extLst>
      <p:ext uri="{BB962C8B-B14F-4D97-AF65-F5344CB8AC3E}">
        <p14:creationId xmlns:p14="http://schemas.microsoft.com/office/powerpoint/2010/main" val="26770330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D2E38427-6D50-4B42-B775-87E79514E06F}" type="datetimeFigureOut">
              <a:rPr lang="tr-TR" smtClean="0"/>
              <a:t>26.12.2021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2D1A3080-76A9-44E4-A68D-110A7489437B}" type="slidenum">
              <a:rPr lang="tr-TR" smtClean="0"/>
              <a:t>‹#›</a:t>
            </a:fld>
            <a:endParaRPr lang="tr-TR"/>
          </a:p>
        </p:txBody>
      </p:sp>
    </p:spTree>
    <p:extLst>
      <p:ext uri="{BB962C8B-B14F-4D97-AF65-F5344CB8AC3E}">
        <p14:creationId xmlns:p14="http://schemas.microsoft.com/office/powerpoint/2010/main" val="2384902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tr-TR"/>
              <a:t>Asıl başlık stili için tıklatın</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D2E38427-6D50-4B42-B775-87E79514E06F}" type="datetimeFigureOut">
              <a:rPr lang="tr-TR" smtClean="0"/>
              <a:t>26.12.2021</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2D1A3080-76A9-44E4-A68D-110A7489437B}" type="slidenum">
              <a:rPr lang="tr-TR" smtClean="0"/>
              <a:t>‹#›</a:t>
            </a:fld>
            <a:endParaRPr lang="tr-TR"/>
          </a:p>
        </p:txBody>
      </p:sp>
    </p:spTree>
    <p:extLst>
      <p:ext uri="{BB962C8B-B14F-4D97-AF65-F5344CB8AC3E}">
        <p14:creationId xmlns:p14="http://schemas.microsoft.com/office/powerpoint/2010/main" val="5030974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tr-TR"/>
              <a:t>Asıl başlık stili için tıklatın</a:t>
            </a:r>
            <a:endParaRPr lang="en-US" dirty="0"/>
          </a:p>
        </p:txBody>
      </p:sp>
      <p:sp>
        <p:nvSpPr>
          <p:cNvPr id="3" name="Date Placeholder 2"/>
          <p:cNvSpPr>
            <a:spLocks noGrp="1"/>
          </p:cNvSpPr>
          <p:nvPr>
            <p:ph type="dt" sz="half" idx="10"/>
          </p:nvPr>
        </p:nvSpPr>
        <p:spPr/>
        <p:txBody>
          <a:bodyPr/>
          <a:lstStyle/>
          <a:p>
            <a:fld id="{D2E38427-6D50-4B42-B775-87E79514E06F}" type="datetimeFigureOut">
              <a:rPr lang="tr-TR" smtClean="0"/>
              <a:t>26.12.2021</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2D1A3080-76A9-44E4-A68D-110A7489437B}" type="slidenum">
              <a:rPr lang="tr-TR" smtClean="0"/>
              <a:t>‹#›</a:t>
            </a:fld>
            <a:endParaRPr lang="tr-TR"/>
          </a:p>
        </p:txBody>
      </p:sp>
    </p:spTree>
    <p:extLst>
      <p:ext uri="{BB962C8B-B14F-4D97-AF65-F5344CB8AC3E}">
        <p14:creationId xmlns:p14="http://schemas.microsoft.com/office/powerpoint/2010/main" val="2090630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E38427-6D50-4B42-B775-87E79514E06F}" type="datetimeFigureOut">
              <a:rPr lang="tr-TR" smtClean="0"/>
              <a:t>26.12.2021</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2D1A3080-76A9-44E4-A68D-110A7489437B}" type="slidenum">
              <a:rPr lang="tr-TR" smtClean="0"/>
              <a:t>‹#›</a:t>
            </a:fld>
            <a:endParaRPr lang="tr-TR"/>
          </a:p>
        </p:txBody>
      </p:sp>
    </p:spTree>
    <p:extLst>
      <p:ext uri="{BB962C8B-B14F-4D97-AF65-F5344CB8AC3E}">
        <p14:creationId xmlns:p14="http://schemas.microsoft.com/office/powerpoint/2010/main" val="3200895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Başlıklı İçerik">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tr-TR"/>
              <a:t>Asıl başlık stili için tıklatın</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a:t>
            </a:r>
          </a:p>
        </p:txBody>
      </p:sp>
      <p:sp>
        <p:nvSpPr>
          <p:cNvPr id="5" name="Date Placeholder 4"/>
          <p:cNvSpPr>
            <a:spLocks noGrp="1"/>
          </p:cNvSpPr>
          <p:nvPr>
            <p:ph type="dt" sz="half" idx="10"/>
          </p:nvPr>
        </p:nvSpPr>
        <p:spPr/>
        <p:txBody>
          <a:bodyPr/>
          <a:lstStyle/>
          <a:p>
            <a:fld id="{D2E38427-6D50-4B42-B775-87E79514E06F}" type="datetimeFigureOut">
              <a:rPr lang="tr-TR" smtClean="0"/>
              <a:t>26.12.2021</a:t>
            </a:fld>
            <a:endParaRPr lang="tr-TR"/>
          </a:p>
        </p:txBody>
      </p:sp>
      <p:sp>
        <p:nvSpPr>
          <p:cNvPr id="6" name="Footer Placeholder 5"/>
          <p:cNvSpPr>
            <a:spLocks noGrp="1"/>
          </p:cNvSpPr>
          <p:nvPr>
            <p:ph type="ftr" sz="quarter" idx="11"/>
          </p:nvPr>
        </p:nvSpPr>
        <p:spPr/>
        <p:txBody>
          <a:bodyPr/>
          <a:lstStyle/>
          <a:p>
            <a:endParaRPr lang="tr-TR"/>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2D1A3080-76A9-44E4-A68D-110A7489437B}" type="slidenum">
              <a:rPr lang="tr-TR" smtClean="0"/>
              <a:t>‹#›</a:t>
            </a:fld>
            <a:endParaRPr lang="tr-TR"/>
          </a:p>
        </p:txBody>
      </p:sp>
    </p:spTree>
    <p:extLst>
      <p:ext uri="{BB962C8B-B14F-4D97-AF65-F5344CB8AC3E}">
        <p14:creationId xmlns:p14="http://schemas.microsoft.com/office/powerpoint/2010/main" val="10824029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tr-TR"/>
              <a:t>Asıl başlık stili için tıklatın</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simgeyi tıklatın</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a:t>
            </a:r>
          </a:p>
        </p:txBody>
      </p:sp>
      <p:sp>
        <p:nvSpPr>
          <p:cNvPr id="5" name="Date Placeholder 4"/>
          <p:cNvSpPr>
            <a:spLocks noGrp="1"/>
          </p:cNvSpPr>
          <p:nvPr>
            <p:ph type="dt" sz="half" idx="10"/>
          </p:nvPr>
        </p:nvSpPr>
        <p:spPr/>
        <p:txBody>
          <a:bodyPr/>
          <a:lstStyle/>
          <a:p>
            <a:fld id="{D2E38427-6D50-4B42-B775-87E79514E06F}" type="datetimeFigureOut">
              <a:rPr lang="tr-TR" smtClean="0"/>
              <a:t>26.12.2021</a:t>
            </a:fld>
            <a:endParaRPr lang="tr-TR"/>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2D1A3080-76A9-44E4-A68D-110A7489437B}" type="slidenum">
              <a:rPr lang="tr-TR" smtClean="0"/>
              <a:t>‹#›</a:t>
            </a:fld>
            <a:endParaRPr lang="tr-TR"/>
          </a:p>
        </p:txBody>
      </p:sp>
    </p:spTree>
    <p:extLst>
      <p:ext uri="{BB962C8B-B14F-4D97-AF65-F5344CB8AC3E}">
        <p14:creationId xmlns:p14="http://schemas.microsoft.com/office/powerpoint/2010/main" val="8386984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Vertical Text Placeholder 2"/>
          <p:cNvSpPr>
            <a:spLocks noGrp="1"/>
          </p:cNvSpPr>
          <p:nvPr>
            <p:ph type="body" orient="vert" idx="1"/>
          </p:nvPr>
        </p:nvSpPr>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D2E38427-6D50-4B42-B775-87E79514E06F}" type="datetimeFigureOut">
              <a:rPr lang="tr-TR" smtClean="0"/>
              <a:t>26.12.2021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2D1A3080-76A9-44E4-A68D-110A7489437B}" type="slidenum">
              <a:rPr lang="tr-TR" smtClean="0"/>
              <a:t>‹#›</a:t>
            </a:fld>
            <a:endParaRPr lang="tr-TR"/>
          </a:p>
        </p:txBody>
      </p:sp>
    </p:spTree>
    <p:extLst>
      <p:ext uri="{BB962C8B-B14F-4D97-AF65-F5344CB8AC3E}">
        <p14:creationId xmlns:p14="http://schemas.microsoft.com/office/powerpoint/2010/main" val="3081882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tr-TR"/>
              <a:t>Asıl başlık stili için tıklatın</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D2E38427-6D50-4B42-B775-87E79514E06F}" type="datetimeFigureOut">
              <a:rPr lang="tr-TR" smtClean="0"/>
              <a:t>26.12.2021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2D1A3080-76A9-44E4-A68D-110A7489437B}" type="slidenum">
              <a:rPr lang="tr-TR" smtClean="0"/>
              <a:t>‹#›</a:t>
            </a:fld>
            <a:endParaRPr lang="tr-TR"/>
          </a:p>
        </p:txBody>
      </p:sp>
    </p:spTree>
    <p:extLst>
      <p:ext uri="{BB962C8B-B14F-4D97-AF65-F5344CB8AC3E}">
        <p14:creationId xmlns:p14="http://schemas.microsoft.com/office/powerpoint/2010/main" val="8825242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tr-TR"/>
              <a:t>Asıl başlık stili için tıklatın</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D2E38427-6D50-4B42-B775-87E79514E06F}" type="datetimeFigureOut">
              <a:rPr lang="tr-TR" smtClean="0"/>
              <a:t>26.12.2021</a:t>
            </a:fld>
            <a:endParaRPr lang="tr-TR"/>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tr-TR"/>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2D1A3080-76A9-44E4-A68D-110A7489437B}" type="slidenum">
              <a:rPr lang="tr-TR" smtClean="0"/>
              <a:t>‹#›</a:t>
            </a:fld>
            <a:endParaRPr lang="tr-TR"/>
          </a:p>
        </p:txBody>
      </p:sp>
    </p:spTree>
    <p:extLst>
      <p:ext uri="{BB962C8B-B14F-4D97-AF65-F5344CB8AC3E}">
        <p14:creationId xmlns:p14="http://schemas.microsoft.com/office/powerpoint/2010/main" val="14729791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ctrTitle"/>
          </p:nvPr>
        </p:nvSpPr>
        <p:spPr/>
        <p:txBody>
          <a:bodyPr/>
          <a:lstStyle/>
          <a:p>
            <a:r>
              <a:rPr lang="tr-TR" dirty="0" err="1"/>
              <a:t>Aırport</a:t>
            </a:r>
            <a:r>
              <a:rPr lang="tr-TR" dirty="0"/>
              <a:t> </a:t>
            </a:r>
            <a:r>
              <a:rPr lang="tr-TR" dirty="0" err="1"/>
              <a:t>system</a:t>
            </a:r>
            <a:endParaRPr lang="tr-TR" dirty="0"/>
          </a:p>
        </p:txBody>
      </p:sp>
      <p:sp>
        <p:nvSpPr>
          <p:cNvPr id="3" name="Alt Başlık 2"/>
          <p:cNvSpPr>
            <a:spLocks noGrp="1"/>
          </p:cNvSpPr>
          <p:nvPr>
            <p:ph type="subTitle" idx="1"/>
          </p:nvPr>
        </p:nvSpPr>
        <p:spPr>
          <a:xfrm>
            <a:off x="6269921" y="4468031"/>
            <a:ext cx="7159752" cy="2168699"/>
          </a:xfrm>
        </p:spPr>
        <p:txBody>
          <a:bodyPr>
            <a:normAutofit fontScale="70000" lnSpcReduction="20000"/>
          </a:bodyPr>
          <a:lstStyle/>
          <a:p>
            <a:r>
              <a:rPr lang="en-US" b="1" dirty="0"/>
              <a:t>Gülşah </a:t>
            </a:r>
            <a:r>
              <a:rPr lang="en-US" b="1" dirty="0" err="1"/>
              <a:t>Ölmez</a:t>
            </a:r>
            <a:r>
              <a:rPr lang="tr-TR" b="1" dirty="0"/>
              <a:t>(</a:t>
            </a:r>
            <a:r>
              <a:rPr lang="en-US" b="1" dirty="0"/>
              <a:t>63180002)</a:t>
            </a:r>
            <a:endParaRPr lang="tr-TR" dirty="0"/>
          </a:p>
          <a:p>
            <a:r>
              <a:rPr lang="en-US" b="1" dirty="0"/>
              <a:t>Muhammed </a:t>
            </a:r>
            <a:r>
              <a:rPr lang="en-US" b="1" dirty="0" err="1"/>
              <a:t>Emin</a:t>
            </a:r>
            <a:r>
              <a:rPr lang="en-US" b="1" dirty="0"/>
              <a:t> Oral (63180006)</a:t>
            </a:r>
            <a:endParaRPr lang="tr-TR" dirty="0"/>
          </a:p>
          <a:p>
            <a:r>
              <a:rPr lang="en-US" b="1" dirty="0" err="1"/>
              <a:t>Selin</a:t>
            </a:r>
            <a:r>
              <a:rPr lang="en-US" b="1" dirty="0"/>
              <a:t> </a:t>
            </a:r>
            <a:r>
              <a:rPr lang="en-US" b="1" dirty="0" err="1"/>
              <a:t>Eraslan</a:t>
            </a:r>
            <a:r>
              <a:rPr lang="en-US" b="1" dirty="0"/>
              <a:t>(63180039</a:t>
            </a:r>
            <a:r>
              <a:rPr lang="tr-TR" b="1" dirty="0"/>
              <a:t>)</a:t>
            </a:r>
          </a:p>
          <a:p>
            <a:r>
              <a:rPr lang="en-US" b="1" dirty="0" err="1"/>
              <a:t>Serhan</a:t>
            </a:r>
            <a:r>
              <a:rPr lang="en-US" b="1" dirty="0"/>
              <a:t> </a:t>
            </a:r>
            <a:r>
              <a:rPr lang="en-US" b="1" dirty="0" err="1"/>
              <a:t>Karpuz</a:t>
            </a:r>
            <a:r>
              <a:rPr lang="en-US" b="1" dirty="0"/>
              <a:t>(63180053)</a:t>
            </a:r>
            <a:endParaRPr lang="tr-TR" dirty="0"/>
          </a:p>
          <a:p>
            <a:endParaRPr lang="tr-TR" dirty="0"/>
          </a:p>
          <a:p>
            <a:r>
              <a:rPr lang="en-US" b="1" dirty="0"/>
              <a:t>							</a:t>
            </a:r>
            <a:endParaRPr lang="tr-TR" dirty="0"/>
          </a:p>
          <a:p>
            <a:r>
              <a:rPr lang="en-US" dirty="0"/>
              <a:t> </a:t>
            </a:r>
            <a:endParaRPr lang="tr-TR" dirty="0"/>
          </a:p>
          <a:p>
            <a:endParaRPr lang="tr-TR" dirty="0"/>
          </a:p>
        </p:txBody>
      </p:sp>
    </p:spTree>
    <p:extLst>
      <p:ext uri="{BB962C8B-B14F-4D97-AF65-F5344CB8AC3E}">
        <p14:creationId xmlns:p14="http://schemas.microsoft.com/office/powerpoint/2010/main" val="38286892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a:t>abstract</a:t>
            </a:r>
            <a:endParaRPr lang="tr-TR" dirty="0"/>
          </a:p>
        </p:txBody>
      </p:sp>
      <p:sp>
        <p:nvSpPr>
          <p:cNvPr id="3" name="İçerik Yer Tutucusu 2"/>
          <p:cNvSpPr>
            <a:spLocks noGrp="1"/>
          </p:cNvSpPr>
          <p:nvPr>
            <p:ph idx="1"/>
          </p:nvPr>
        </p:nvSpPr>
        <p:spPr>
          <a:xfrm>
            <a:off x="1069848" y="2121408"/>
            <a:ext cx="5339449" cy="4050792"/>
          </a:xfrm>
        </p:spPr>
        <p:txBody>
          <a:bodyPr/>
          <a:lstStyle/>
          <a:p>
            <a:r>
              <a:rPr lang="en-US" dirty="0"/>
              <a:t>The main theme of our project will be around the departure area of an airport. It is common for passengers to lose time at the airport in checking area. Some may even miss the flight in which they bought. Also, weight luggage’s and bags are another time-consuming consideration. To please all passengers, it is important to minimize airport waiting times and maximize the efficiency of an airport staff.</a:t>
            </a:r>
            <a:endParaRPr lang="tr-TR" dirty="0"/>
          </a:p>
          <a:p>
            <a:endParaRPr lang="tr-TR" dirty="0"/>
          </a:p>
        </p:txBody>
      </p:sp>
      <p:pic>
        <p:nvPicPr>
          <p:cNvPr id="4" name="Resim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15697" y="2121408"/>
            <a:ext cx="4399010" cy="3086700"/>
          </a:xfrm>
          <a:prstGeom prst="rect">
            <a:avLst/>
          </a:prstGeom>
        </p:spPr>
      </p:pic>
    </p:spTree>
    <p:extLst>
      <p:ext uri="{BB962C8B-B14F-4D97-AF65-F5344CB8AC3E}">
        <p14:creationId xmlns:p14="http://schemas.microsoft.com/office/powerpoint/2010/main" val="3607672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en-US" b="1" dirty="0"/>
              <a:t>Components of the system</a:t>
            </a:r>
            <a:endParaRPr lang="tr-TR" dirty="0"/>
          </a:p>
        </p:txBody>
      </p:sp>
      <p:sp>
        <p:nvSpPr>
          <p:cNvPr id="3" name="İçerik Yer Tutucusu 2"/>
          <p:cNvSpPr>
            <a:spLocks noGrp="1"/>
          </p:cNvSpPr>
          <p:nvPr>
            <p:ph idx="1"/>
          </p:nvPr>
        </p:nvSpPr>
        <p:spPr/>
        <p:txBody>
          <a:bodyPr>
            <a:normAutofit/>
          </a:bodyPr>
          <a:lstStyle/>
          <a:p>
            <a:r>
              <a:rPr lang="en-US" b="1" dirty="0"/>
              <a:t>System:</a:t>
            </a:r>
            <a:r>
              <a:rPr lang="en-US" dirty="0"/>
              <a:t> Airport</a:t>
            </a:r>
            <a:endParaRPr lang="tr-TR" dirty="0"/>
          </a:p>
          <a:p>
            <a:pPr marL="0" indent="0">
              <a:buNone/>
            </a:pPr>
            <a:endParaRPr lang="tr-TR" dirty="0"/>
          </a:p>
          <a:p>
            <a:r>
              <a:rPr lang="en-US" b="1" dirty="0"/>
              <a:t>Entities:</a:t>
            </a:r>
            <a:r>
              <a:rPr lang="en-US" dirty="0"/>
              <a:t> Passengers, Airport personnel</a:t>
            </a:r>
            <a:endParaRPr lang="tr-TR" dirty="0"/>
          </a:p>
          <a:p>
            <a:pPr marL="0" indent="0">
              <a:buNone/>
            </a:pPr>
            <a:r>
              <a:rPr lang="en-US" dirty="0"/>
              <a:t>	 </a:t>
            </a:r>
            <a:endParaRPr lang="tr-TR" dirty="0"/>
          </a:p>
          <a:p>
            <a:r>
              <a:rPr lang="en-US" b="1" dirty="0"/>
              <a:t>Attributes for passengers:</a:t>
            </a:r>
            <a:r>
              <a:rPr lang="en-US" dirty="0"/>
              <a:t> Arrival time</a:t>
            </a:r>
            <a:r>
              <a:rPr lang="tr-TR" dirty="0"/>
              <a:t> </a:t>
            </a:r>
            <a:r>
              <a:rPr lang="tr-TR" dirty="0" err="1"/>
              <a:t>for</a:t>
            </a:r>
            <a:r>
              <a:rPr lang="tr-TR" dirty="0"/>
              <a:t> </a:t>
            </a:r>
            <a:r>
              <a:rPr lang="tr-TR" dirty="0" err="1"/>
              <a:t>domestic</a:t>
            </a:r>
            <a:r>
              <a:rPr lang="tr-TR" dirty="0"/>
              <a:t> terminal</a:t>
            </a:r>
            <a:r>
              <a:rPr lang="en-US" dirty="0"/>
              <a:t>, Arrival time</a:t>
            </a:r>
            <a:r>
              <a:rPr lang="tr-TR" dirty="0"/>
              <a:t> </a:t>
            </a:r>
            <a:r>
              <a:rPr lang="tr-TR" dirty="0" err="1"/>
              <a:t>for</a:t>
            </a:r>
            <a:r>
              <a:rPr lang="tr-TR" dirty="0"/>
              <a:t> </a:t>
            </a:r>
            <a:r>
              <a:rPr lang="tr-TR" dirty="0" err="1"/>
              <a:t>international</a:t>
            </a:r>
            <a:r>
              <a:rPr lang="tr-TR" dirty="0"/>
              <a:t> terminal, </a:t>
            </a:r>
            <a:r>
              <a:rPr lang="en-US" dirty="0"/>
              <a:t>Required service </a:t>
            </a:r>
            <a:r>
              <a:rPr lang="tr-TR" dirty="0" err="1"/>
              <a:t>for</a:t>
            </a:r>
            <a:r>
              <a:rPr lang="tr-TR" dirty="0"/>
              <a:t> </a:t>
            </a:r>
            <a:r>
              <a:rPr lang="tr-TR" dirty="0" err="1"/>
              <a:t>domestic</a:t>
            </a:r>
            <a:r>
              <a:rPr lang="tr-TR" dirty="0"/>
              <a:t> terminal,</a:t>
            </a:r>
            <a:r>
              <a:rPr lang="en-US" dirty="0"/>
              <a:t> Required service </a:t>
            </a:r>
            <a:r>
              <a:rPr lang="tr-TR" dirty="0" err="1"/>
              <a:t>for</a:t>
            </a:r>
            <a:r>
              <a:rPr lang="tr-TR" dirty="0"/>
              <a:t> </a:t>
            </a:r>
            <a:r>
              <a:rPr lang="tr-TR" dirty="0" err="1"/>
              <a:t>international</a:t>
            </a:r>
            <a:r>
              <a:rPr lang="tr-TR" dirty="0"/>
              <a:t> terminal </a:t>
            </a:r>
            <a:r>
              <a:rPr lang="en-US" dirty="0"/>
              <a:t> </a:t>
            </a:r>
            <a:endParaRPr lang="tr-TR" dirty="0"/>
          </a:p>
          <a:p>
            <a:r>
              <a:rPr lang="en-US" b="1" dirty="0"/>
              <a:t>Attributes for personnel:</a:t>
            </a:r>
            <a:r>
              <a:rPr lang="en-US" dirty="0"/>
              <a:t> Service </a:t>
            </a:r>
            <a:r>
              <a:rPr lang="tr-TR" dirty="0"/>
              <a:t>time </a:t>
            </a:r>
            <a:r>
              <a:rPr lang="tr-TR" dirty="0" err="1"/>
              <a:t>for</a:t>
            </a:r>
            <a:r>
              <a:rPr lang="tr-TR" dirty="0"/>
              <a:t> </a:t>
            </a:r>
            <a:r>
              <a:rPr lang="tr-TR" dirty="0" err="1"/>
              <a:t>domestic</a:t>
            </a:r>
            <a:r>
              <a:rPr lang="tr-TR" dirty="0"/>
              <a:t> terminal </a:t>
            </a:r>
            <a:r>
              <a:rPr lang="tr-TR" dirty="0" err="1"/>
              <a:t>employee</a:t>
            </a:r>
            <a:r>
              <a:rPr lang="tr-TR" dirty="0"/>
              <a:t>, Service time </a:t>
            </a:r>
            <a:r>
              <a:rPr lang="tr-TR" dirty="0" err="1"/>
              <a:t>for</a:t>
            </a:r>
            <a:r>
              <a:rPr lang="tr-TR" dirty="0"/>
              <a:t> </a:t>
            </a:r>
            <a:r>
              <a:rPr lang="tr-TR" dirty="0" err="1"/>
              <a:t>international</a:t>
            </a:r>
            <a:r>
              <a:rPr lang="tr-TR" dirty="0"/>
              <a:t> terminal </a:t>
            </a:r>
            <a:r>
              <a:rPr lang="tr-TR" dirty="0" err="1"/>
              <a:t>employee</a:t>
            </a:r>
            <a:endParaRPr lang="tr-TR" dirty="0"/>
          </a:p>
          <a:p>
            <a:pPr marL="0" indent="0">
              <a:buNone/>
            </a:pPr>
            <a:r>
              <a:rPr lang="en-US" dirty="0"/>
              <a:t> </a:t>
            </a:r>
            <a:endParaRPr lang="tr-TR" dirty="0"/>
          </a:p>
          <a:p>
            <a:endParaRPr lang="tr-TR" dirty="0"/>
          </a:p>
        </p:txBody>
      </p:sp>
    </p:spTree>
    <p:extLst>
      <p:ext uri="{BB962C8B-B14F-4D97-AF65-F5344CB8AC3E}">
        <p14:creationId xmlns:p14="http://schemas.microsoft.com/office/powerpoint/2010/main" val="7115641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en-US" b="1" dirty="0"/>
              <a:t>Components of the system</a:t>
            </a:r>
            <a:endParaRPr lang="tr-TR" dirty="0"/>
          </a:p>
        </p:txBody>
      </p:sp>
      <p:sp>
        <p:nvSpPr>
          <p:cNvPr id="3" name="İçerik Yer Tutucusu 2"/>
          <p:cNvSpPr>
            <a:spLocks noGrp="1"/>
          </p:cNvSpPr>
          <p:nvPr>
            <p:ph idx="1"/>
          </p:nvPr>
        </p:nvSpPr>
        <p:spPr/>
        <p:txBody>
          <a:bodyPr/>
          <a:lstStyle/>
          <a:p>
            <a:r>
              <a:rPr lang="en-US" b="1" dirty="0"/>
              <a:t>Activities:</a:t>
            </a:r>
            <a:r>
              <a:rPr lang="en-US" dirty="0"/>
              <a:t> Service , service time</a:t>
            </a:r>
            <a:r>
              <a:rPr lang="tr-TR" dirty="0"/>
              <a:t>(</a:t>
            </a:r>
            <a:r>
              <a:rPr lang="tr-TR" dirty="0" err="1"/>
              <a:t>domestic</a:t>
            </a:r>
            <a:r>
              <a:rPr lang="tr-TR" dirty="0"/>
              <a:t> </a:t>
            </a:r>
            <a:r>
              <a:rPr lang="tr-TR" dirty="0" err="1"/>
              <a:t>and</a:t>
            </a:r>
            <a:r>
              <a:rPr lang="tr-TR" dirty="0"/>
              <a:t> </a:t>
            </a:r>
            <a:r>
              <a:rPr lang="tr-TR" dirty="0" err="1"/>
              <a:t>international</a:t>
            </a:r>
            <a:r>
              <a:rPr lang="tr-TR" dirty="0"/>
              <a:t> terminal </a:t>
            </a:r>
            <a:r>
              <a:rPr lang="tr-TR" dirty="0" err="1"/>
              <a:t>employee</a:t>
            </a:r>
            <a:r>
              <a:rPr lang="tr-TR" dirty="0"/>
              <a:t>)</a:t>
            </a:r>
            <a:r>
              <a:rPr lang="en-US" dirty="0"/>
              <a:t>, </a:t>
            </a:r>
            <a:r>
              <a:rPr lang="en-US" dirty="0" err="1"/>
              <a:t>interarrival</a:t>
            </a:r>
            <a:r>
              <a:rPr lang="en-US" dirty="0"/>
              <a:t> time</a:t>
            </a:r>
            <a:r>
              <a:rPr lang="tr-TR" dirty="0"/>
              <a:t> (</a:t>
            </a:r>
            <a:r>
              <a:rPr lang="tr-TR" dirty="0" err="1"/>
              <a:t>pasennger</a:t>
            </a:r>
            <a:r>
              <a:rPr lang="tr-TR" dirty="0"/>
              <a:t> in </a:t>
            </a:r>
            <a:r>
              <a:rPr lang="tr-TR" dirty="0" err="1"/>
              <a:t>domestic</a:t>
            </a:r>
            <a:r>
              <a:rPr lang="tr-TR" dirty="0"/>
              <a:t> </a:t>
            </a:r>
            <a:r>
              <a:rPr lang="tr-TR" dirty="0" err="1"/>
              <a:t>and</a:t>
            </a:r>
            <a:r>
              <a:rPr lang="tr-TR" dirty="0"/>
              <a:t> </a:t>
            </a:r>
            <a:r>
              <a:rPr lang="tr-TR" dirty="0" err="1"/>
              <a:t>international</a:t>
            </a:r>
            <a:r>
              <a:rPr lang="tr-TR" dirty="0"/>
              <a:t> terminal)</a:t>
            </a:r>
          </a:p>
          <a:p>
            <a:pPr marL="0" indent="0">
              <a:buNone/>
            </a:pPr>
            <a:endParaRPr lang="tr-TR" dirty="0"/>
          </a:p>
          <a:p>
            <a:r>
              <a:rPr lang="en-US" b="1" dirty="0"/>
              <a:t>Events:</a:t>
            </a:r>
            <a:r>
              <a:rPr lang="en-US" dirty="0"/>
              <a:t> Starting the service, Ending the service, Arrival, Departure</a:t>
            </a:r>
            <a:r>
              <a:rPr lang="tr-TR" dirty="0"/>
              <a:t>, </a:t>
            </a:r>
            <a:r>
              <a:rPr lang="tr-TR" dirty="0" err="1"/>
              <a:t>domestic</a:t>
            </a:r>
            <a:r>
              <a:rPr lang="tr-TR" dirty="0"/>
              <a:t> </a:t>
            </a:r>
            <a:r>
              <a:rPr lang="tr-TR" dirty="0" err="1"/>
              <a:t>and</a:t>
            </a:r>
            <a:r>
              <a:rPr lang="tr-TR" dirty="0"/>
              <a:t> </a:t>
            </a:r>
            <a:r>
              <a:rPr lang="tr-TR" dirty="0" err="1"/>
              <a:t>international</a:t>
            </a:r>
            <a:r>
              <a:rPr lang="tr-TR" dirty="0"/>
              <a:t> terminal</a:t>
            </a:r>
          </a:p>
          <a:p>
            <a:pPr marL="0" indent="0">
              <a:buNone/>
            </a:pPr>
            <a:endParaRPr lang="tr-TR" dirty="0"/>
          </a:p>
          <a:p>
            <a:r>
              <a:rPr lang="en-US" b="1" dirty="0"/>
              <a:t>State Variables:</a:t>
            </a:r>
            <a:r>
              <a:rPr lang="en-US" dirty="0"/>
              <a:t> Status of personnel (busy or idle), Status of passenger (wait or not)</a:t>
            </a:r>
            <a:endParaRPr lang="tr-TR" dirty="0"/>
          </a:p>
          <a:p>
            <a:pPr marL="0" indent="0">
              <a:buNone/>
            </a:pPr>
            <a:endParaRPr lang="tr-TR" dirty="0"/>
          </a:p>
          <a:p>
            <a:r>
              <a:rPr lang="en-US" b="1" dirty="0"/>
              <a:t>Output variables:</a:t>
            </a:r>
            <a:r>
              <a:rPr lang="en-US" dirty="0"/>
              <a:t> Number of passengers who wait in the system.</a:t>
            </a:r>
            <a:endParaRPr lang="tr-TR" dirty="0"/>
          </a:p>
          <a:p>
            <a:endParaRPr lang="tr-TR" dirty="0"/>
          </a:p>
        </p:txBody>
      </p:sp>
    </p:spTree>
    <p:extLst>
      <p:ext uri="{BB962C8B-B14F-4D97-AF65-F5344CB8AC3E}">
        <p14:creationId xmlns:p14="http://schemas.microsoft.com/office/powerpoint/2010/main" val="21432264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en-US" b="1" dirty="0"/>
              <a:t>Objective of the system</a:t>
            </a:r>
            <a:br>
              <a:rPr lang="tr-TR" dirty="0"/>
            </a:br>
            <a:endParaRPr lang="tr-TR" dirty="0"/>
          </a:p>
        </p:txBody>
      </p:sp>
      <p:sp>
        <p:nvSpPr>
          <p:cNvPr id="3" name="İçerik Yer Tutucusu 2"/>
          <p:cNvSpPr>
            <a:spLocks noGrp="1"/>
          </p:cNvSpPr>
          <p:nvPr>
            <p:ph idx="1"/>
          </p:nvPr>
        </p:nvSpPr>
        <p:spPr>
          <a:xfrm>
            <a:off x="833296" y="1911049"/>
            <a:ext cx="5164697" cy="4050792"/>
          </a:xfrm>
        </p:spPr>
        <p:txBody>
          <a:bodyPr/>
          <a:lstStyle/>
          <a:p>
            <a:r>
              <a:rPr lang="en-US" dirty="0"/>
              <a:t>Maximize customer satisfaction by minimizing the waiting time and the number of people waiting in the system. These conditions are provided by optimizing the number of reservations to be made and allowing a certain number of people to get in airport during the day.</a:t>
            </a:r>
            <a:endParaRPr lang="tr-TR" dirty="0"/>
          </a:p>
          <a:p>
            <a:pPr marL="0" indent="0">
              <a:buNone/>
            </a:pPr>
            <a:endParaRPr lang="tr-TR" dirty="0"/>
          </a:p>
        </p:txBody>
      </p:sp>
      <p:pic>
        <p:nvPicPr>
          <p:cNvPr id="4" name="Resim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37746" y="1932200"/>
            <a:ext cx="4927054" cy="3286345"/>
          </a:xfrm>
          <a:prstGeom prst="rect">
            <a:avLst/>
          </a:prstGeom>
        </p:spPr>
      </p:pic>
    </p:spTree>
    <p:extLst>
      <p:ext uri="{BB962C8B-B14F-4D97-AF65-F5344CB8AC3E}">
        <p14:creationId xmlns:p14="http://schemas.microsoft.com/office/powerpoint/2010/main" val="41533992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Data </a:t>
            </a:r>
            <a:r>
              <a:rPr lang="tr-TR" dirty="0" err="1"/>
              <a:t>collectıon</a:t>
            </a:r>
            <a:endParaRPr lang="tr-TR" dirty="0"/>
          </a:p>
        </p:txBody>
      </p:sp>
      <p:sp>
        <p:nvSpPr>
          <p:cNvPr id="3" name="İçerik Yer Tutucusu 2"/>
          <p:cNvSpPr>
            <a:spLocks noGrp="1"/>
          </p:cNvSpPr>
          <p:nvPr>
            <p:ph idx="1"/>
          </p:nvPr>
        </p:nvSpPr>
        <p:spPr>
          <a:xfrm>
            <a:off x="1069847" y="2146716"/>
            <a:ext cx="5266297" cy="2201210"/>
          </a:xfrm>
        </p:spPr>
        <p:txBody>
          <a:bodyPr/>
          <a:lstStyle/>
          <a:p>
            <a:r>
              <a:rPr lang="en-US" b="1" dirty="0">
                <a:solidFill>
                  <a:schemeClr val="accent1">
                    <a:lumMod val="75000"/>
                  </a:schemeClr>
                </a:solidFill>
              </a:rPr>
              <a:t>Stochastic </a:t>
            </a:r>
            <a:r>
              <a:rPr lang="en-US" b="1" dirty="0" err="1">
                <a:solidFill>
                  <a:schemeClr val="accent1">
                    <a:lumMod val="75000"/>
                  </a:schemeClr>
                </a:solidFill>
              </a:rPr>
              <a:t>Datas</a:t>
            </a:r>
            <a:r>
              <a:rPr lang="en-US" dirty="0">
                <a:solidFill>
                  <a:schemeClr val="accent1">
                    <a:lumMod val="75000"/>
                  </a:schemeClr>
                </a:solidFill>
              </a:rPr>
              <a:t>:  </a:t>
            </a:r>
            <a:endParaRPr lang="tr-TR" dirty="0">
              <a:solidFill>
                <a:schemeClr val="accent1">
                  <a:lumMod val="75000"/>
                </a:schemeClr>
              </a:solidFill>
            </a:endParaRPr>
          </a:p>
          <a:p>
            <a:r>
              <a:rPr lang="en-US" dirty="0" err="1"/>
              <a:t>Interarrival</a:t>
            </a:r>
            <a:r>
              <a:rPr lang="en-US" dirty="0"/>
              <a:t> times for the passengers</a:t>
            </a:r>
            <a:r>
              <a:rPr lang="tr-TR" dirty="0"/>
              <a:t> </a:t>
            </a:r>
            <a:r>
              <a:rPr lang="tr-TR" dirty="0" err="1"/>
              <a:t>both</a:t>
            </a:r>
            <a:r>
              <a:rPr lang="tr-TR" dirty="0"/>
              <a:t> </a:t>
            </a:r>
            <a:r>
              <a:rPr lang="tr-TR" dirty="0" err="1"/>
              <a:t>domestic</a:t>
            </a:r>
            <a:r>
              <a:rPr lang="tr-TR" dirty="0"/>
              <a:t> </a:t>
            </a:r>
            <a:r>
              <a:rPr lang="tr-TR" dirty="0" err="1"/>
              <a:t>and</a:t>
            </a:r>
            <a:r>
              <a:rPr lang="tr-TR" dirty="0"/>
              <a:t> </a:t>
            </a:r>
            <a:r>
              <a:rPr lang="tr-TR" dirty="0" err="1"/>
              <a:t>international</a:t>
            </a:r>
            <a:r>
              <a:rPr lang="tr-TR" dirty="0"/>
              <a:t> terminal</a:t>
            </a:r>
            <a:r>
              <a:rPr lang="en-US" dirty="0"/>
              <a:t> .</a:t>
            </a:r>
            <a:endParaRPr lang="tr-TR" dirty="0"/>
          </a:p>
          <a:p>
            <a:r>
              <a:rPr lang="tr-TR" dirty="0"/>
              <a:t>Service time </a:t>
            </a:r>
            <a:r>
              <a:rPr lang="tr-TR" dirty="0" err="1"/>
              <a:t>for</a:t>
            </a:r>
            <a:r>
              <a:rPr lang="tr-TR" dirty="0"/>
              <a:t> </a:t>
            </a:r>
            <a:r>
              <a:rPr lang="tr-TR" dirty="0" err="1"/>
              <a:t>employee</a:t>
            </a:r>
            <a:r>
              <a:rPr lang="tr-TR" dirty="0"/>
              <a:t> </a:t>
            </a:r>
            <a:r>
              <a:rPr lang="tr-TR" dirty="0" err="1"/>
              <a:t>both</a:t>
            </a:r>
            <a:r>
              <a:rPr lang="tr-TR" dirty="0"/>
              <a:t> </a:t>
            </a:r>
            <a:r>
              <a:rPr lang="tr-TR" dirty="0" err="1"/>
              <a:t>domestic</a:t>
            </a:r>
            <a:r>
              <a:rPr lang="tr-TR" dirty="0"/>
              <a:t> </a:t>
            </a:r>
            <a:r>
              <a:rPr lang="tr-TR" dirty="0" err="1"/>
              <a:t>and</a:t>
            </a:r>
            <a:r>
              <a:rPr lang="tr-TR" dirty="0"/>
              <a:t> </a:t>
            </a:r>
            <a:r>
              <a:rPr lang="tr-TR" dirty="0" err="1"/>
              <a:t>international</a:t>
            </a:r>
            <a:r>
              <a:rPr lang="tr-TR" dirty="0"/>
              <a:t> terminal.</a:t>
            </a:r>
          </a:p>
        </p:txBody>
      </p:sp>
      <p:sp>
        <p:nvSpPr>
          <p:cNvPr id="4" name="Metin kutusu 3"/>
          <p:cNvSpPr txBox="1"/>
          <p:nvPr/>
        </p:nvSpPr>
        <p:spPr>
          <a:xfrm>
            <a:off x="6788727" y="2093976"/>
            <a:ext cx="4017818" cy="646331"/>
          </a:xfrm>
          <a:prstGeom prst="rect">
            <a:avLst/>
          </a:prstGeom>
          <a:noFill/>
        </p:spPr>
        <p:txBody>
          <a:bodyPr wrap="square" rtlCol="0">
            <a:spAutoFit/>
          </a:bodyPr>
          <a:lstStyle/>
          <a:p>
            <a:pPr marL="285750" indent="-285750">
              <a:buFont typeface="Wingdings" panose="05000000000000000000" pitchFamily="2" charset="2"/>
              <a:buChar char="§"/>
            </a:pPr>
            <a:r>
              <a:rPr lang="en-US" b="1" dirty="0">
                <a:solidFill>
                  <a:schemeClr val="accent1">
                    <a:lumMod val="75000"/>
                  </a:schemeClr>
                </a:solidFill>
              </a:rPr>
              <a:t>Deterministic Data:</a:t>
            </a:r>
            <a:endParaRPr lang="tr-TR" dirty="0">
              <a:solidFill>
                <a:schemeClr val="accent1">
                  <a:lumMod val="75000"/>
                </a:schemeClr>
              </a:solidFill>
            </a:endParaRPr>
          </a:p>
          <a:p>
            <a:pPr marL="285750" lvl="0" indent="-285750">
              <a:buFont typeface="Wingdings" panose="05000000000000000000" pitchFamily="2" charset="2"/>
              <a:buChar char="§"/>
            </a:pPr>
            <a:r>
              <a:rPr lang="en-US" dirty="0"/>
              <a:t>Number of airport </a:t>
            </a:r>
            <a:r>
              <a:rPr lang="en-US" dirty="0" err="1"/>
              <a:t>personel</a:t>
            </a:r>
            <a:r>
              <a:rPr lang="en-US" dirty="0"/>
              <a:t>.</a:t>
            </a:r>
            <a:endParaRPr lang="tr-TR" dirty="0"/>
          </a:p>
        </p:txBody>
      </p:sp>
    </p:spTree>
    <p:extLst>
      <p:ext uri="{BB962C8B-B14F-4D97-AF65-F5344CB8AC3E}">
        <p14:creationId xmlns:p14="http://schemas.microsoft.com/office/powerpoint/2010/main" val="10195775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Data </a:t>
            </a:r>
            <a:r>
              <a:rPr lang="tr-TR" dirty="0" err="1"/>
              <a:t>collectıon</a:t>
            </a:r>
            <a:endParaRPr lang="tr-TR" dirty="0"/>
          </a:p>
        </p:txBody>
      </p:sp>
      <p:sp>
        <p:nvSpPr>
          <p:cNvPr id="3" name="İçerik Yer Tutucusu 2"/>
          <p:cNvSpPr>
            <a:spLocks noGrp="1"/>
          </p:cNvSpPr>
          <p:nvPr>
            <p:ph idx="1"/>
          </p:nvPr>
        </p:nvSpPr>
        <p:spPr>
          <a:xfrm>
            <a:off x="1069848" y="2121408"/>
            <a:ext cx="5118515" cy="4050792"/>
          </a:xfrm>
        </p:spPr>
        <p:txBody>
          <a:bodyPr/>
          <a:lstStyle/>
          <a:p>
            <a:r>
              <a:rPr lang="en-US" dirty="0"/>
              <a:t>Since real data could not be reached in this model made for airport ticket or baggage queue, random values were studied. Input analyzer was used to calculate the time </a:t>
            </a:r>
            <a:r>
              <a:rPr lang="en-US" dirty="0" err="1"/>
              <a:t>interarrivals</a:t>
            </a:r>
            <a:r>
              <a:rPr lang="en-US" dirty="0"/>
              <a:t> of the waiting passenger and the service times of the airport personnel</a:t>
            </a:r>
            <a:r>
              <a:rPr lang="tr-TR" dirty="0"/>
              <a:t> </a:t>
            </a:r>
            <a:r>
              <a:rPr lang="tr-TR" dirty="0" err="1"/>
              <a:t>both</a:t>
            </a:r>
            <a:r>
              <a:rPr lang="tr-TR" dirty="0"/>
              <a:t> </a:t>
            </a:r>
            <a:r>
              <a:rPr lang="tr-TR" dirty="0" err="1"/>
              <a:t>domestic</a:t>
            </a:r>
            <a:r>
              <a:rPr lang="tr-TR" dirty="0"/>
              <a:t> </a:t>
            </a:r>
            <a:r>
              <a:rPr lang="tr-TR" dirty="0" err="1"/>
              <a:t>and</a:t>
            </a:r>
            <a:r>
              <a:rPr lang="tr-TR" dirty="0"/>
              <a:t> </a:t>
            </a:r>
            <a:r>
              <a:rPr lang="tr-TR" dirty="0" err="1"/>
              <a:t>international</a:t>
            </a:r>
            <a:r>
              <a:rPr lang="tr-TR" dirty="0"/>
              <a:t> terminal.</a:t>
            </a:r>
          </a:p>
        </p:txBody>
      </p:sp>
      <p:pic>
        <p:nvPicPr>
          <p:cNvPr id="4" name="Resim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54234" y="2093976"/>
            <a:ext cx="4430955" cy="3271522"/>
          </a:xfrm>
          <a:prstGeom prst="rect">
            <a:avLst/>
          </a:prstGeom>
        </p:spPr>
      </p:pic>
    </p:spTree>
    <p:extLst>
      <p:ext uri="{BB962C8B-B14F-4D97-AF65-F5344CB8AC3E}">
        <p14:creationId xmlns:p14="http://schemas.microsoft.com/office/powerpoint/2010/main" val="3498024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a:t>dıstrıbutıon</a:t>
            </a:r>
            <a:r>
              <a:rPr lang="tr-TR" dirty="0"/>
              <a:t> </a:t>
            </a:r>
            <a:r>
              <a:rPr lang="tr-TR" dirty="0" err="1"/>
              <a:t>determınatıon</a:t>
            </a:r>
            <a:r>
              <a:rPr lang="tr-TR" dirty="0"/>
              <a:t> </a:t>
            </a:r>
            <a:r>
              <a:rPr lang="tr-TR" dirty="0" err="1"/>
              <a:t>usıng</a:t>
            </a:r>
            <a:r>
              <a:rPr lang="tr-TR" dirty="0"/>
              <a:t> </a:t>
            </a:r>
            <a:r>
              <a:rPr lang="tr-TR" dirty="0" err="1"/>
              <a:t>ınput</a:t>
            </a:r>
            <a:r>
              <a:rPr lang="tr-TR" dirty="0"/>
              <a:t> </a:t>
            </a:r>
            <a:r>
              <a:rPr lang="tr-TR" dirty="0" err="1"/>
              <a:t>analyzer</a:t>
            </a:r>
            <a:endParaRPr lang="tr-TR" dirty="0"/>
          </a:p>
        </p:txBody>
      </p:sp>
      <p:sp>
        <p:nvSpPr>
          <p:cNvPr id="3" name="İçerik Yer Tutucusu 2"/>
          <p:cNvSpPr>
            <a:spLocks noGrp="1"/>
          </p:cNvSpPr>
          <p:nvPr>
            <p:ph idx="1"/>
          </p:nvPr>
        </p:nvSpPr>
        <p:spPr>
          <a:xfrm>
            <a:off x="1069848" y="2121408"/>
            <a:ext cx="10058400" cy="1018956"/>
          </a:xfrm>
        </p:spPr>
        <p:txBody>
          <a:bodyPr/>
          <a:lstStyle/>
          <a:p>
            <a:r>
              <a:rPr lang="en-US" dirty="0"/>
              <a:t>First of all, distribution was determined in the input analyzer for passenger </a:t>
            </a:r>
            <a:r>
              <a:rPr lang="en-US" dirty="0" err="1"/>
              <a:t>interarrival</a:t>
            </a:r>
            <a:r>
              <a:rPr lang="en-US" dirty="0"/>
              <a:t> time for domestic and international terminal.</a:t>
            </a:r>
            <a:endParaRPr lang="tr-TR" dirty="0"/>
          </a:p>
        </p:txBody>
      </p:sp>
      <p:pic>
        <p:nvPicPr>
          <p:cNvPr id="4" name="Resim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5320" y="3167796"/>
            <a:ext cx="5660542" cy="2346036"/>
          </a:xfrm>
          <a:prstGeom prst="rect">
            <a:avLst/>
          </a:prstGeom>
        </p:spPr>
      </p:pic>
      <p:pic>
        <p:nvPicPr>
          <p:cNvPr id="5" name="Resim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35862" y="3247054"/>
            <a:ext cx="5229721" cy="2266778"/>
          </a:xfrm>
          <a:prstGeom prst="rect">
            <a:avLst/>
          </a:prstGeom>
        </p:spPr>
      </p:pic>
    </p:spTree>
    <p:extLst>
      <p:ext uri="{BB962C8B-B14F-4D97-AF65-F5344CB8AC3E}">
        <p14:creationId xmlns:p14="http://schemas.microsoft.com/office/powerpoint/2010/main" val="8377917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a:t>dıstrıbutıon</a:t>
            </a:r>
            <a:r>
              <a:rPr lang="tr-TR" dirty="0"/>
              <a:t> </a:t>
            </a:r>
            <a:r>
              <a:rPr lang="tr-TR" dirty="0" err="1"/>
              <a:t>determınatıon</a:t>
            </a:r>
            <a:r>
              <a:rPr lang="tr-TR" dirty="0"/>
              <a:t> </a:t>
            </a:r>
            <a:r>
              <a:rPr lang="tr-TR" dirty="0" err="1"/>
              <a:t>usıng</a:t>
            </a:r>
            <a:r>
              <a:rPr lang="tr-TR" dirty="0"/>
              <a:t> </a:t>
            </a:r>
            <a:r>
              <a:rPr lang="tr-TR" dirty="0" err="1"/>
              <a:t>ınput</a:t>
            </a:r>
            <a:r>
              <a:rPr lang="tr-TR" dirty="0"/>
              <a:t> </a:t>
            </a:r>
            <a:r>
              <a:rPr lang="tr-TR" dirty="0" err="1"/>
              <a:t>analyzer</a:t>
            </a:r>
            <a:endParaRPr lang="tr-TR" dirty="0"/>
          </a:p>
        </p:txBody>
      </p:sp>
      <p:sp>
        <p:nvSpPr>
          <p:cNvPr id="3" name="İçerik Yer Tutucusu 2"/>
          <p:cNvSpPr>
            <a:spLocks noGrp="1"/>
          </p:cNvSpPr>
          <p:nvPr>
            <p:ph idx="1"/>
          </p:nvPr>
        </p:nvSpPr>
        <p:spPr/>
        <p:txBody>
          <a:bodyPr/>
          <a:lstStyle/>
          <a:p>
            <a:r>
              <a:rPr lang="en-US" dirty="0"/>
              <a:t>The service time distributions of the airport employees were determined for both international and domestic terminal.</a:t>
            </a:r>
            <a:endParaRPr lang="tr-TR" dirty="0"/>
          </a:p>
        </p:txBody>
      </p:sp>
      <p:pic>
        <p:nvPicPr>
          <p:cNvPr id="4" name="Resim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3520" y="3219313"/>
            <a:ext cx="5478735" cy="2448695"/>
          </a:xfrm>
          <a:prstGeom prst="rect">
            <a:avLst/>
          </a:prstGeom>
        </p:spPr>
      </p:pic>
      <p:pic>
        <p:nvPicPr>
          <p:cNvPr id="5" name="Resim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2255" y="3271612"/>
            <a:ext cx="5381077" cy="2396396"/>
          </a:xfrm>
          <a:prstGeom prst="rect">
            <a:avLst/>
          </a:prstGeom>
        </p:spPr>
      </p:pic>
    </p:spTree>
    <p:extLst>
      <p:ext uri="{BB962C8B-B14F-4D97-AF65-F5344CB8AC3E}">
        <p14:creationId xmlns:p14="http://schemas.microsoft.com/office/powerpoint/2010/main" val="33902502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Arena model</a:t>
            </a:r>
          </a:p>
        </p:txBody>
      </p:sp>
      <p:pic>
        <p:nvPicPr>
          <p:cNvPr id="4" name="İçerik Yer Tutucusu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0394" y="2327407"/>
            <a:ext cx="9777307" cy="3619814"/>
          </a:xfrm>
        </p:spPr>
      </p:pic>
    </p:spTree>
    <p:extLst>
      <p:ext uri="{BB962C8B-B14F-4D97-AF65-F5344CB8AC3E}">
        <p14:creationId xmlns:p14="http://schemas.microsoft.com/office/powerpoint/2010/main" val="30243185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Arena model</a:t>
            </a:r>
          </a:p>
        </p:txBody>
      </p:sp>
      <p:sp>
        <p:nvSpPr>
          <p:cNvPr id="3" name="İçerik Yer Tutucusu 2"/>
          <p:cNvSpPr>
            <a:spLocks noGrp="1"/>
          </p:cNvSpPr>
          <p:nvPr>
            <p:ph idx="1"/>
          </p:nvPr>
        </p:nvSpPr>
        <p:spPr>
          <a:xfrm>
            <a:off x="1069848" y="2093976"/>
            <a:ext cx="10058400" cy="4050792"/>
          </a:xfrm>
        </p:spPr>
        <p:txBody>
          <a:bodyPr/>
          <a:lstStyle/>
          <a:p>
            <a:r>
              <a:rPr lang="en-US" dirty="0"/>
              <a:t>Two separate create modules for the passenger arrivals domestic terminal and the passenger arrivals international terminal were created with the </a:t>
            </a:r>
            <a:r>
              <a:rPr lang="en-US" dirty="0" err="1"/>
              <a:t>distirbution</a:t>
            </a:r>
            <a:r>
              <a:rPr lang="en-US" dirty="0"/>
              <a:t> values found by input analysis.</a:t>
            </a:r>
            <a:endParaRPr lang="tr-TR" dirty="0"/>
          </a:p>
          <a:p>
            <a:r>
              <a:rPr lang="en-US" dirty="0"/>
              <a:t>Separate assign modules are assigned to these two separate create modules.</a:t>
            </a:r>
            <a:endParaRPr lang="tr-TR" dirty="0"/>
          </a:p>
          <a:p>
            <a:r>
              <a:rPr lang="en-US" dirty="0"/>
              <a:t>Using the distributions of the service times determined by the input analysis, two separate process modules for the service by domestic terminal employee and the service by international terminal employee were connected to the assign. </a:t>
            </a:r>
            <a:endParaRPr lang="tr-TR" dirty="0"/>
          </a:p>
          <a:p>
            <a:r>
              <a:rPr lang="en-US" dirty="0"/>
              <a:t>The times of the events passed in the system were kept with the record models connected to the process modules.</a:t>
            </a:r>
            <a:endParaRPr lang="tr-TR" dirty="0"/>
          </a:p>
          <a:p>
            <a:r>
              <a:rPr lang="en-US" dirty="0"/>
              <a:t>Finally, these separate entities leave the system with the common </a:t>
            </a:r>
            <a:r>
              <a:rPr lang="en-US" dirty="0" err="1"/>
              <a:t>dispos</a:t>
            </a:r>
            <a:r>
              <a:rPr lang="en-US" dirty="0"/>
              <a:t> model.</a:t>
            </a:r>
            <a:endParaRPr lang="tr-TR" dirty="0"/>
          </a:p>
          <a:p>
            <a:endParaRPr lang="en-US" dirty="0"/>
          </a:p>
          <a:p>
            <a:endParaRPr lang="tr-TR" dirty="0"/>
          </a:p>
          <a:p>
            <a:endParaRPr lang="tr-TR" dirty="0"/>
          </a:p>
        </p:txBody>
      </p:sp>
    </p:spTree>
    <p:extLst>
      <p:ext uri="{BB962C8B-B14F-4D97-AF65-F5344CB8AC3E}">
        <p14:creationId xmlns:p14="http://schemas.microsoft.com/office/powerpoint/2010/main" val="585851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1069848" y="341745"/>
            <a:ext cx="9992174" cy="1484375"/>
          </a:xfrm>
        </p:spPr>
        <p:txBody>
          <a:bodyPr>
            <a:normAutofit/>
          </a:bodyPr>
          <a:lstStyle/>
          <a:p>
            <a:r>
              <a:rPr lang="tr-TR" dirty="0"/>
              <a:t>Arena </a:t>
            </a:r>
            <a:r>
              <a:rPr lang="tr-TR" dirty="0" err="1"/>
              <a:t>results</a:t>
            </a:r>
            <a:endParaRPr lang="tr-TR" dirty="0"/>
          </a:p>
        </p:txBody>
      </p:sp>
      <p:pic>
        <p:nvPicPr>
          <p:cNvPr id="6" name="İçerik Yer Tutucusu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65935" y="1083932"/>
            <a:ext cx="5260936" cy="4932128"/>
          </a:xfrm>
        </p:spPr>
      </p:pic>
      <p:sp>
        <p:nvSpPr>
          <p:cNvPr id="7" name="Metin kutusu 6"/>
          <p:cNvSpPr txBox="1"/>
          <p:nvPr/>
        </p:nvSpPr>
        <p:spPr>
          <a:xfrm>
            <a:off x="1069848" y="2053764"/>
            <a:ext cx="4433455" cy="1200329"/>
          </a:xfrm>
          <a:prstGeom prst="rect">
            <a:avLst/>
          </a:prstGeom>
          <a:noFill/>
        </p:spPr>
        <p:txBody>
          <a:bodyPr wrap="square" rtlCol="0">
            <a:spAutoFit/>
          </a:bodyPr>
          <a:lstStyle/>
          <a:p>
            <a:pPr marL="571500" indent="-571500">
              <a:buFont typeface="Wingdings" panose="05000000000000000000" pitchFamily="2" charset="2"/>
              <a:buChar char="§"/>
            </a:pPr>
            <a:r>
              <a:rPr lang="tr-TR" sz="3600" dirty="0" err="1"/>
              <a:t>Category</a:t>
            </a:r>
            <a:r>
              <a:rPr lang="tr-TR" sz="3600" dirty="0"/>
              <a:t> </a:t>
            </a:r>
            <a:r>
              <a:rPr lang="tr-TR" sz="3600" dirty="0" err="1"/>
              <a:t>Overview</a:t>
            </a:r>
            <a:endParaRPr lang="tr-TR" sz="3600" dirty="0"/>
          </a:p>
        </p:txBody>
      </p:sp>
    </p:spTree>
    <p:extLst>
      <p:ext uri="{BB962C8B-B14F-4D97-AF65-F5344CB8AC3E}">
        <p14:creationId xmlns:p14="http://schemas.microsoft.com/office/powerpoint/2010/main" val="40424563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878641" y="266338"/>
            <a:ext cx="10058400" cy="1609344"/>
          </a:xfrm>
        </p:spPr>
        <p:txBody>
          <a:bodyPr/>
          <a:lstStyle/>
          <a:p>
            <a:r>
              <a:rPr lang="tr-TR" dirty="0"/>
              <a:t>Arena </a:t>
            </a:r>
            <a:r>
              <a:rPr lang="tr-TR" dirty="0" err="1"/>
              <a:t>results</a:t>
            </a:r>
            <a:endParaRPr lang="tr-TR" dirty="0"/>
          </a:p>
        </p:txBody>
      </p:sp>
      <p:pic>
        <p:nvPicPr>
          <p:cNvPr id="4" name="İçerik Yer Tutucusu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77375" y="266338"/>
            <a:ext cx="4795243" cy="4644450"/>
          </a:xfrm>
        </p:spPr>
      </p:pic>
      <p:sp>
        <p:nvSpPr>
          <p:cNvPr id="5" name="Metin kutusu 4"/>
          <p:cNvSpPr txBox="1"/>
          <p:nvPr/>
        </p:nvSpPr>
        <p:spPr>
          <a:xfrm>
            <a:off x="203290" y="1630992"/>
            <a:ext cx="5329381" cy="5325689"/>
          </a:xfrm>
          <a:prstGeom prst="rect">
            <a:avLst/>
          </a:prstGeom>
          <a:noFill/>
        </p:spPr>
        <p:txBody>
          <a:bodyPr wrap="square" rtlCol="0">
            <a:spAutoFit/>
          </a:bodyPr>
          <a:lstStyle/>
          <a:p>
            <a:pPr marL="571500" indent="-571500">
              <a:buFont typeface="Wingdings" panose="05000000000000000000" pitchFamily="2" charset="2"/>
              <a:buChar char="§"/>
            </a:pPr>
            <a:r>
              <a:rPr lang="tr-TR" sz="2400" dirty="0" err="1"/>
              <a:t>Category</a:t>
            </a:r>
            <a:r>
              <a:rPr lang="tr-TR" sz="2400" dirty="0"/>
              <a:t> </a:t>
            </a:r>
            <a:r>
              <a:rPr lang="tr-TR" sz="2400" dirty="0" err="1"/>
              <a:t>by</a:t>
            </a:r>
            <a:r>
              <a:rPr lang="tr-TR" sz="2400" dirty="0"/>
              <a:t> Replication</a:t>
            </a:r>
          </a:p>
          <a:p>
            <a:pPr marL="571500" indent="-571500">
              <a:buFont typeface="Wingdings" panose="05000000000000000000" pitchFamily="2" charset="2"/>
              <a:buChar char="§"/>
            </a:pPr>
            <a:endParaRPr lang="tr-TR" sz="2400" dirty="0"/>
          </a:p>
          <a:p>
            <a:pPr>
              <a:lnSpc>
                <a:spcPct val="107000"/>
              </a:lnSpc>
              <a:spcAft>
                <a:spcPts val="800"/>
              </a:spcAft>
            </a:pPr>
            <a:r>
              <a:rPr lang="tr-TR" u="sng" dirty="0">
                <a:effectLst/>
                <a:latin typeface="Calibri" panose="020F0502020204030204" pitchFamily="34" charset="0"/>
                <a:ea typeface="Calibri" panose="020F0502020204030204" pitchFamily="34" charset="0"/>
                <a:cs typeface="Arial" panose="020B0604020202020204" pitchFamily="34" charset="0"/>
              </a:rPr>
              <a:t>VA time</a:t>
            </a:r>
          </a:p>
          <a:p>
            <a:pPr>
              <a:lnSpc>
                <a:spcPct val="107000"/>
              </a:lnSpc>
              <a:spcAft>
                <a:spcPts val="800"/>
              </a:spcAft>
            </a:pPr>
            <a:r>
              <a:rPr lang="tr-TR" sz="1600" dirty="0" err="1">
                <a:effectLst/>
                <a:latin typeface="Calibri" panose="020F0502020204030204" pitchFamily="34" charset="0"/>
                <a:ea typeface="Calibri" panose="020F0502020204030204" pitchFamily="34" charset="0"/>
                <a:cs typeface="Arial" panose="020B0604020202020204" pitchFamily="34" charset="0"/>
              </a:rPr>
              <a:t>Domestic</a:t>
            </a:r>
            <a:r>
              <a:rPr lang="tr-TR" sz="1600" dirty="0">
                <a:effectLst/>
                <a:latin typeface="Calibri" panose="020F0502020204030204" pitchFamily="34" charset="0"/>
                <a:ea typeface="Calibri" panose="020F0502020204030204" pitchFamily="34" charset="0"/>
                <a:cs typeface="Arial" panose="020B0604020202020204" pitchFamily="34" charset="0"/>
              </a:rPr>
              <a:t> </a:t>
            </a:r>
            <a:r>
              <a:rPr lang="tr-TR" sz="1600" dirty="0" err="1">
                <a:effectLst/>
                <a:latin typeface="Calibri" panose="020F0502020204030204" pitchFamily="34" charset="0"/>
                <a:ea typeface="Calibri" panose="020F0502020204030204" pitchFamily="34" charset="0"/>
                <a:cs typeface="Arial" panose="020B0604020202020204" pitchFamily="34" charset="0"/>
              </a:rPr>
              <a:t>passengers</a:t>
            </a:r>
            <a:r>
              <a:rPr lang="tr-TR" sz="1600" dirty="0">
                <a:effectLst/>
                <a:latin typeface="Calibri" panose="020F0502020204030204" pitchFamily="34" charset="0"/>
                <a:ea typeface="Calibri" panose="020F0502020204030204" pitchFamily="34" charset="0"/>
                <a:cs typeface="Arial" panose="020B0604020202020204" pitchFamily="34" charset="0"/>
              </a:rPr>
              <a:t>: </a:t>
            </a:r>
            <a:r>
              <a:rPr lang="tr-TR" sz="1600" b="1" dirty="0">
                <a:effectLst/>
                <a:latin typeface="Calibri" panose="020F0502020204030204" pitchFamily="34" charset="0"/>
                <a:ea typeface="Calibri" panose="020F0502020204030204" pitchFamily="34" charset="0"/>
                <a:cs typeface="Arial" panose="020B0604020202020204" pitchFamily="34" charset="0"/>
              </a:rPr>
              <a:t>2.8 </a:t>
            </a:r>
            <a:r>
              <a:rPr lang="tr-TR" sz="1600" b="1" dirty="0" err="1">
                <a:effectLst/>
                <a:latin typeface="Calibri" panose="020F0502020204030204" pitchFamily="34" charset="0"/>
                <a:ea typeface="Calibri" panose="020F0502020204030204" pitchFamily="34" charset="0"/>
                <a:cs typeface="Arial" panose="020B0604020202020204" pitchFamily="34" charset="0"/>
              </a:rPr>
              <a:t>minutes</a:t>
            </a:r>
            <a:endParaRPr lang="tr-TR" sz="1600" b="1"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tr-TR" sz="1600" dirty="0">
                <a:effectLst/>
                <a:latin typeface="Calibri" panose="020F0502020204030204" pitchFamily="34" charset="0"/>
                <a:ea typeface="Calibri" panose="020F0502020204030204" pitchFamily="34" charset="0"/>
                <a:cs typeface="Arial" panose="020B0604020202020204" pitchFamily="34" charset="0"/>
              </a:rPr>
              <a:t>International </a:t>
            </a:r>
            <a:r>
              <a:rPr lang="tr-TR" sz="1600" dirty="0" err="1">
                <a:effectLst/>
                <a:latin typeface="Calibri" panose="020F0502020204030204" pitchFamily="34" charset="0"/>
                <a:ea typeface="Calibri" panose="020F0502020204030204" pitchFamily="34" charset="0"/>
                <a:cs typeface="Arial" panose="020B0604020202020204" pitchFamily="34" charset="0"/>
              </a:rPr>
              <a:t>passengers</a:t>
            </a:r>
            <a:r>
              <a:rPr lang="tr-TR" sz="1600" dirty="0">
                <a:effectLst/>
                <a:latin typeface="Calibri" panose="020F0502020204030204" pitchFamily="34" charset="0"/>
                <a:ea typeface="Calibri" panose="020F0502020204030204" pitchFamily="34" charset="0"/>
                <a:cs typeface="Arial" panose="020B0604020202020204" pitchFamily="34" charset="0"/>
              </a:rPr>
              <a:t>: </a:t>
            </a:r>
            <a:r>
              <a:rPr lang="tr-TR" sz="1600" b="1" dirty="0">
                <a:effectLst/>
                <a:latin typeface="Calibri" panose="020F0502020204030204" pitchFamily="34" charset="0"/>
                <a:ea typeface="Calibri" panose="020F0502020204030204" pitchFamily="34" charset="0"/>
                <a:cs typeface="Arial" panose="020B0604020202020204" pitchFamily="34" charset="0"/>
              </a:rPr>
              <a:t>3.7 </a:t>
            </a:r>
            <a:r>
              <a:rPr lang="tr-TR" sz="1600" b="1" dirty="0" err="1">
                <a:effectLst/>
                <a:latin typeface="Calibri" panose="020F0502020204030204" pitchFamily="34" charset="0"/>
                <a:ea typeface="Calibri" panose="020F0502020204030204" pitchFamily="34" charset="0"/>
                <a:cs typeface="Arial" panose="020B0604020202020204" pitchFamily="34" charset="0"/>
              </a:rPr>
              <a:t>minutes</a:t>
            </a:r>
            <a:endParaRPr lang="tr-TR" sz="1600" b="1"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endParaRPr lang="tr-TR" sz="1600" u="sng"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tr-TR" u="sng" dirty="0" err="1">
                <a:effectLst/>
                <a:latin typeface="Calibri" panose="020F0502020204030204" pitchFamily="34" charset="0"/>
                <a:ea typeface="Calibri" panose="020F0502020204030204" pitchFamily="34" charset="0"/>
                <a:cs typeface="Arial" panose="020B0604020202020204" pitchFamily="34" charset="0"/>
              </a:rPr>
              <a:t>Wait</a:t>
            </a:r>
            <a:r>
              <a:rPr lang="tr-TR" u="sng" dirty="0">
                <a:effectLst/>
                <a:latin typeface="Calibri" panose="020F0502020204030204" pitchFamily="34" charset="0"/>
                <a:ea typeface="Calibri" panose="020F0502020204030204" pitchFamily="34" charset="0"/>
                <a:cs typeface="Arial" panose="020B0604020202020204" pitchFamily="34" charset="0"/>
              </a:rPr>
              <a:t> time</a:t>
            </a:r>
          </a:p>
          <a:p>
            <a:pPr>
              <a:lnSpc>
                <a:spcPct val="107000"/>
              </a:lnSpc>
              <a:spcAft>
                <a:spcPts val="800"/>
              </a:spcAft>
            </a:pPr>
            <a:r>
              <a:rPr lang="tr-TR" sz="1600" dirty="0" err="1">
                <a:effectLst/>
                <a:latin typeface="Calibri" panose="020F0502020204030204" pitchFamily="34" charset="0"/>
                <a:ea typeface="Calibri" panose="020F0502020204030204" pitchFamily="34" charset="0"/>
                <a:cs typeface="Arial" panose="020B0604020202020204" pitchFamily="34" charset="0"/>
              </a:rPr>
              <a:t>Domestic</a:t>
            </a:r>
            <a:r>
              <a:rPr lang="tr-TR" sz="1600" dirty="0">
                <a:effectLst/>
                <a:latin typeface="Calibri" panose="020F0502020204030204" pitchFamily="34" charset="0"/>
                <a:ea typeface="Calibri" panose="020F0502020204030204" pitchFamily="34" charset="0"/>
                <a:cs typeface="Arial" panose="020B0604020202020204" pitchFamily="34" charset="0"/>
              </a:rPr>
              <a:t> </a:t>
            </a:r>
            <a:r>
              <a:rPr lang="tr-TR" sz="1600" dirty="0" err="1">
                <a:effectLst/>
                <a:latin typeface="Calibri" panose="020F0502020204030204" pitchFamily="34" charset="0"/>
                <a:ea typeface="Calibri" panose="020F0502020204030204" pitchFamily="34" charset="0"/>
                <a:cs typeface="Arial" panose="020B0604020202020204" pitchFamily="34" charset="0"/>
              </a:rPr>
              <a:t>passengers</a:t>
            </a:r>
            <a:r>
              <a:rPr lang="tr-TR" sz="1600" dirty="0">
                <a:effectLst/>
                <a:latin typeface="Calibri" panose="020F0502020204030204" pitchFamily="34" charset="0"/>
                <a:ea typeface="Calibri" panose="020F0502020204030204" pitchFamily="34" charset="0"/>
                <a:cs typeface="Arial" panose="020B0604020202020204" pitchFamily="34" charset="0"/>
              </a:rPr>
              <a:t>: </a:t>
            </a:r>
            <a:r>
              <a:rPr lang="tr-TR" sz="1600" b="1" dirty="0">
                <a:effectLst/>
                <a:latin typeface="Calibri" panose="020F0502020204030204" pitchFamily="34" charset="0"/>
                <a:ea typeface="Calibri" panose="020F0502020204030204" pitchFamily="34" charset="0"/>
                <a:cs typeface="Arial" panose="020B0604020202020204" pitchFamily="34" charset="0"/>
              </a:rPr>
              <a:t>2.1 </a:t>
            </a:r>
            <a:r>
              <a:rPr lang="tr-TR" sz="1600" b="1" dirty="0" err="1">
                <a:effectLst/>
                <a:latin typeface="Calibri" panose="020F0502020204030204" pitchFamily="34" charset="0"/>
                <a:ea typeface="Calibri" panose="020F0502020204030204" pitchFamily="34" charset="0"/>
                <a:cs typeface="Arial" panose="020B0604020202020204" pitchFamily="34" charset="0"/>
              </a:rPr>
              <a:t>minutes</a:t>
            </a:r>
            <a:endParaRPr lang="tr-TR" sz="1600" b="1"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tr-TR" sz="1600" dirty="0">
                <a:effectLst/>
                <a:latin typeface="Calibri" panose="020F0502020204030204" pitchFamily="34" charset="0"/>
                <a:ea typeface="Calibri" panose="020F0502020204030204" pitchFamily="34" charset="0"/>
                <a:cs typeface="Arial" panose="020B0604020202020204" pitchFamily="34" charset="0"/>
              </a:rPr>
              <a:t>International </a:t>
            </a:r>
            <a:r>
              <a:rPr lang="tr-TR" sz="1600" dirty="0" err="1">
                <a:effectLst/>
                <a:latin typeface="Calibri" panose="020F0502020204030204" pitchFamily="34" charset="0"/>
                <a:ea typeface="Calibri" panose="020F0502020204030204" pitchFamily="34" charset="0"/>
                <a:cs typeface="Arial" panose="020B0604020202020204" pitchFamily="34" charset="0"/>
              </a:rPr>
              <a:t>passengers</a:t>
            </a:r>
            <a:r>
              <a:rPr lang="tr-TR" sz="1600" dirty="0">
                <a:effectLst/>
                <a:latin typeface="Calibri" panose="020F0502020204030204" pitchFamily="34" charset="0"/>
                <a:ea typeface="Calibri" panose="020F0502020204030204" pitchFamily="34" charset="0"/>
                <a:cs typeface="Arial" panose="020B0604020202020204" pitchFamily="34" charset="0"/>
              </a:rPr>
              <a:t>: </a:t>
            </a:r>
            <a:r>
              <a:rPr lang="tr-TR" sz="1600" b="1" dirty="0">
                <a:effectLst/>
                <a:latin typeface="Calibri" panose="020F0502020204030204" pitchFamily="34" charset="0"/>
                <a:ea typeface="Calibri" panose="020F0502020204030204" pitchFamily="34" charset="0"/>
                <a:cs typeface="Arial" panose="020B0604020202020204" pitchFamily="34" charset="0"/>
              </a:rPr>
              <a:t>2.4 </a:t>
            </a:r>
            <a:r>
              <a:rPr lang="tr-TR" sz="1600" b="1" dirty="0" err="1">
                <a:effectLst/>
                <a:latin typeface="Calibri" panose="020F0502020204030204" pitchFamily="34" charset="0"/>
                <a:ea typeface="Calibri" panose="020F0502020204030204" pitchFamily="34" charset="0"/>
                <a:cs typeface="Arial" panose="020B0604020202020204" pitchFamily="34" charset="0"/>
              </a:rPr>
              <a:t>minutes</a:t>
            </a:r>
            <a:endParaRPr lang="tr-TR" sz="1600" b="1"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tr-TR" sz="1600" dirty="0">
                <a:effectLst/>
                <a:latin typeface="Calibri" panose="020F0502020204030204" pitchFamily="34" charset="0"/>
                <a:ea typeface="Calibri" panose="020F0502020204030204" pitchFamily="34" charset="0"/>
                <a:cs typeface="Arial" panose="020B0604020202020204" pitchFamily="34" charset="0"/>
              </a:rPr>
              <a:t> </a:t>
            </a:r>
          </a:p>
          <a:p>
            <a:pPr>
              <a:lnSpc>
                <a:spcPct val="107000"/>
              </a:lnSpc>
              <a:spcAft>
                <a:spcPts val="800"/>
              </a:spcAft>
            </a:pPr>
            <a:r>
              <a:rPr lang="tr-TR" u="sng" dirty="0">
                <a:effectLst/>
                <a:latin typeface="Calibri" panose="020F0502020204030204" pitchFamily="34" charset="0"/>
                <a:ea typeface="Calibri" panose="020F0502020204030204" pitchFamily="34" charset="0"/>
                <a:cs typeface="Arial" panose="020B0604020202020204" pitchFamily="34" charset="0"/>
              </a:rPr>
              <a:t>Total time</a:t>
            </a:r>
          </a:p>
          <a:p>
            <a:pPr>
              <a:lnSpc>
                <a:spcPct val="107000"/>
              </a:lnSpc>
              <a:spcAft>
                <a:spcPts val="800"/>
              </a:spcAft>
            </a:pPr>
            <a:r>
              <a:rPr lang="tr-TR" sz="1600" dirty="0" err="1">
                <a:effectLst/>
                <a:latin typeface="Calibri" panose="020F0502020204030204" pitchFamily="34" charset="0"/>
                <a:ea typeface="Calibri" panose="020F0502020204030204" pitchFamily="34" charset="0"/>
                <a:cs typeface="Arial" panose="020B0604020202020204" pitchFamily="34" charset="0"/>
              </a:rPr>
              <a:t>Domestic</a:t>
            </a:r>
            <a:r>
              <a:rPr lang="tr-TR" sz="1600" dirty="0">
                <a:effectLst/>
                <a:latin typeface="Calibri" panose="020F0502020204030204" pitchFamily="34" charset="0"/>
                <a:ea typeface="Calibri" panose="020F0502020204030204" pitchFamily="34" charset="0"/>
                <a:cs typeface="Arial" panose="020B0604020202020204" pitchFamily="34" charset="0"/>
              </a:rPr>
              <a:t> </a:t>
            </a:r>
            <a:r>
              <a:rPr lang="tr-TR" sz="1600" dirty="0" err="1">
                <a:effectLst/>
                <a:latin typeface="Calibri" panose="020F0502020204030204" pitchFamily="34" charset="0"/>
                <a:ea typeface="Calibri" panose="020F0502020204030204" pitchFamily="34" charset="0"/>
                <a:cs typeface="Arial" panose="020B0604020202020204" pitchFamily="34" charset="0"/>
              </a:rPr>
              <a:t>passengers</a:t>
            </a:r>
            <a:r>
              <a:rPr lang="tr-TR" sz="1600" dirty="0">
                <a:effectLst/>
                <a:latin typeface="Calibri" panose="020F0502020204030204" pitchFamily="34" charset="0"/>
                <a:ea typeface="Calibri" panose="020F0502020204030204" pitchFamily="34" charset="0"/>
                <a:cs typeface="Arial" panose="020B0604020202020204" pitchFamily="34" charset="0"/>
              </a:rPr>
              <a:t>: </a:t>
            </a:r>
            <a:r>
              <a:rPr lang="tr-TR" sz="1600" b="1" dirty="0">
                <a:effectLst/>
                <a:latin typeface="Calibri" panose="020F0502020204030204" pitchFamily="34" charset="0"/>
                <a:ea typeface="Calibri" panose="020F0502020204030204" pitchFamily="34" charset="0"/>
                <a:cs typeface="Arial" panose="020B0604020202020204" pitchFamily="34" charset="0"/>
              </a:rPr>
              <a:t>4.9 </a:t>
            </a:r>
            <a:r>
              <a:rPr lang="tr-TR" sz="1600" b="1" dirty="0" err="1">
                <a:effectLst/>
                <a:latin typeface="Calibri" panose="020F0502020204030204" pitchFamily="34" charset="0"/>
                <a:ea typeface="Calibri" panose="020F0502020204030204" pitchFamily="34" charset="0"/>
                <a:cs typeface="Arial" panose="020B0604020202020204" pitchFamily="34" charset="0"/>
              </a:rPr>
              <a:t>minutes</a:t>
            </a:r>
            <a:endParaRPr lang="tr-TR" sz="1600" b="1"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tr-TR" sz="1600" dirty="0">
                <a:effectLst/>
                <a:latin typeface="Calibri" panose="020F0502020204030204" pitchFamily="34" charset="0"/>
                <a:ea typeface="Calibri" panose="020F0502020204030204" pitchFamily="34" charset="0"/>
                <a:cs typeface="Arial" panose="020B0604020202020204" pitchFamily="34" charset="0"/>
              </a:rPr>
              <a:t>International </a:t>
            </a:r>
            <a:r>
              <a:rPr lang="tr-TR" sz="1600" dirty="0" err="1">
                <a:effectLst/>
                <a:latin typeface="Calibri" panose="020F0502020204030204" pitchFamily="34" charset="0"/>
                <a:ea typeface="Calibri" panose="020F0502020204030204" pitchFamily="34" charset="0"/>
                <a:cs typeface="Arial" panose="020B0604020202020204" pitchFamily="34" charset="0"/>
              </a:rPr>
              <a:t>passengers</a:t>
            </a:r>
            <a:r>
              <a:rPr lang="tr-TR" sz="1600" dirty="0">
                <a:effectLst/>
                <a:latin typeface="Calibri" panose="020F0502020204030204" pitchFamily="34" charset="0"/>
                <a:ea typeface="Calibri" panose="020F0502020204030204" pitchFamily="34" charset="0"/>
                <a:cs typeface="Arial" panose="020B0604020202020204" pitchFamily="34" charset="0"/>
              </a:rPr>
              <a:t>:</a:t>
            </a:r>
            <a:r>
              <a:rPr lang="tr-TR" sz="1600" b="1" dirty="0">
                <a:effectLst/>
                <a:latin typeface="Calibri" panose="020F0502020204030204" pitchFamily="34" charset="0"/>
                <a:ea typeface="Calibri" panose="020F0502020204030204" pitchFamily="34" charset="0"/>
                <a:cs typeface="Arial" panose="020B0604020202020204" pitchFamily="34" charset="0"/>
              </a:rPr>
              <a:t> 6.1 </a:t>
            </a:r>
            <a:r>
              <a:rPr lang="tr-TR" sz="1600" b="1" dirty="0" err="1">
                <a:effectLst/>
                <a:latin typeface="Calibri" panose="020F0502020204030204" pitchFamily="34" charset="0"/>
                <a:ea typeface="Calibri" panose="020F0502020204030204" pitchFamily="34" charset="0"/>
                <a:cs typeface="Arial" panose="020B0604020202020204" pitchFamily="34" charset="0"/>
              </a:rPr>
              <a:t>minutes</a:t>
            </a:r>
            <a:endParaRPr lang="tr-TR" sz="1600" b="1" dirty="0">
              <a:effectLst/>
              <a:latin typeface="Calibri" panose="020F0502020204030204" pitchFamily="34" charset="0"/>
              <a:ea typeface="Calibri" panose="020F0502020204030204" pitchFamily="34" charset="0"/>
              <a:cs typeface="Arial" panose="020B0604020202020204" pitchFamily="34" charset="0"/>
            </a:endParaRPr>
          </a:p>
          <a:p>
            <a:endParaRPr lang="tr-TR" sz="2400" dirty="0"/>
          </a:p>
        </p:txBody>
      </p:sp>
      <p:pic>
        <p:nvPicPr>
          <p:cNvPr id="6" name="Resim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07841" y="4910789"/>
            <a:ext cx="4795243" cy="1947212"/>
          </a:xfrm>
          <a:prstGeom prst="rect">
            <a:avLst/>
          </a:prstGeom>
        </p:spPr>
      </p:pic>
    </p:spTree>
    <p:extLst>
      <p:ext uri="{BB962C8B-B14F-4D97-AF65-F5344CB8AC3E}">
        <p14:creationId xmlns:p14="http://schemas.microsoft.com/office/powerpoint/2010/main" val="1515482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1069848" y="484632"/>
            <a:ext cx="10058400" cy="1436532"/>
          </a:xfrm>
        </p:spPr>
        <p:txBody>
          <a:bodyPr/>
          <a:lstStyle/>
          <a:p>
            <a:r>
              <a:rPr lang="tr-TR" dirty="0"/>
              <a:t>Arena </a:t>
            </a:r>
            <a:r>
              <a:rPr lang="tr-TR" dirty="0" err="1"/>
              <a:t>results</a:t>
            </a:r>
            <a:endParaRPr lang="tr-TR" dirty="0"/>
          </a:p>
        </p:txBody>
      </p:sp>
      <p:pic>
        <p:nvPicPr>
          <p:cNvPr id="6" name="İçerik Yer Tutucusu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9048" y="698500"/>
            <a:ext cx="5398843" cy="5312806"/>
          </a:xfrm>
        </p:spPr>
      </p:pic>
      <p:sp>
        <p:nvSpPr>
          <p:cNvPr id="7" name="Metin kutusu 6"/>
          <p:cNvSpPr txBox="1"/>
          <p:nvPr/>
        </p:nvSpPr>
        <p:spPr>
          <a:xfrm>
            <a:off x="1069848" y="2004291"/>
            <a:ext cx="2521527" cy="646331"/>
          </a:xfrm>
          <a:prstGeom prst="rect">
            <a:avLst/>
          </a:prstGeom>
          <a:noFill/>
        </p:spPr>
        <p:txBody>
          <a:bodyPr wrap="square" rtlCol="0">
            <a:spAutoFit/>
          </a:bodyPr>
          <a:lstStyle/>
          <a:p>
            <a:pPr marL="571500" indent="-571500">
              <a:buFont typeface="Wingdings" panose="05000000000000000000" pitchFamily="2" charset="2"/>
              <a:buChar char="§"/>
            </a:pPr>
            <a:r>
              <a:rPr lang="tr-TR" sz="3600" dirty="0" err="1"/>
              <a:t>Queues</a:t>
            </a:r>
            <a:endParaRPr lang="tr-TR" sz="3600" dirty="0"/>
          </a:p>
        </p:txBody>
      </p:sp>
    </p:spTree>
    <p:extLst>
      <p:ext uri="{BB962C8B-B14F-4D97-AF65-F5344CB8AC3E}">
        <p14:creationId xmlns:p14="http://schemas.microsoft.com/office/powerpoint/2010/main" val="31697231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Arena </a:t>
            </a:r>
            <a:r>
              <a:rPr lang="tr-TR" dirty="0" err="1"/>
              <a:t>results</a:t>
            </a:r>
            <a:endParaRPr lang="tr-TR" dirty="0"/>
          </a:p>
        </p:txBody>
      </p:sp>
      <p:sp>
        <p:nvSpPr>
          <p:cNvPr id="5" name="Metin kutusu 4"/>
          <p:cNvSpPr txBox="1"/>
          <p:nvPr/>
        </p:nvSpPr>
        <p:spPr>
          <a:xfrm>
            <a:off x="1063751" y="1960809"/>
            <a:ext cx="3534882" cy="3139321"/>
          </a:xfrm>
          <a:prstGeom prst="rect">
            <a:avLst/>
          </a:prstGeom>
          <a:noFill/>
        </p:spPr>
        <p:txBody>
          <a:bodyPr wrap="square" rtlCol="0">
            <a:spAutoFit/>
          </a:bodyPr>
          <a:lstStyle/>
          <a:p>
            <a:pPr marL="571500" indent="-571500">
              <a:buFont typeface="Wingdings" panose="05000000000000000000" pitchFamily="2" charset="2"/>
              <a:buChar char="§"/>
            </a:pPr>
            <a:r>
              <a:rPr lang="tr-TR" sz="3600" dirty="0"/>
              <a:t>User </a:t>
            </a:r>
            <a:r>
              <a:rPr lang="tr-TR" sz="3600" dirty="0" err="1"/>
              <a:t>Specified</a:t>
            </a:r>
            <a:endParaRPr lang="tr-TR" sz="3600" dirty="0"/>
          </a:p>
          <a:p>
            <a:pPr marL="571500" indent="-571500">
              <a:buFont typeface="Wingdings" panose="05000000000000000000" pitchFamily="2" charset="2"/>
              <a:buChar char="§"/>
            </a:pPr>
            <a:endParaRPr lang="tr-TR" sz="3600" dirty="0"/>
          </a:p>
          <a:p>
            <a:r>
              <a:rPr lang="tr-TR" dirty="0" err="1">
                <a:latin typeface="Calibri" panose="020F0502020204030204" pitchFamily="34" charset="0"/>
                <a:ea typeface="Calibri" panose="020F0502020204030204" pitchFamily="34" charset="0"/>
                <a:cs typeface="Arial" panose="020B0604020202020204" pitchFamily="34" charset="0"/>
              </a:rPr>
              <a:t>R</a:t>
            </a:r>
            <a:r>
              <a:rPr lang="tr-TR" sz="1800" dirty="0" err="1">
                <a:effectLst/>
                <a:latin typeface="Calibri" panose="020F0502020204030204" pitchFamily="34" charset="0"/>
                <a:ea typeface="Calibri" panose="020F0502020204030204" pitchFamily="34" charset="0"/>
                <a:cs typeface="Arial" panose="020B0604020202020204" pitchFamily="34" charset="0"/>
              </a:rPr>
              <a:t>ecord</a:t>
            </a:r>
            <a:r>
              <a:rPr lang="tr-TR" sz="1800" dirty="0">
                <a:effectLst/>
                <a:latin typeface="Calibri" panose="020F0502020204030204" pitchFamily="34" charset="0"/>
                <a:ea typeface="Calibri" panose="020F0502020204030204" pitchFamily="34" charset="0"/>
                <a:cs typeface="Arial" panose="020B0604020202020204" pitchFamily="34" charset="0"/>
              </a:rPr>
              <a:t> time in </a:t>
            </a:r>
            <a:r>
              <a:rPr lang="tr-TR" sz="1800" dirty="0" err="1">
                <a:effectLst/>
                <a:latin typeface="Calibri" panose="020F0502020204030204" pitchFamily="34" charset="0"/>
                <a:ea typeface="Calibri" panose="020F0502020204030204" pitchFamily="34" charset="0"/>
                <a:cs typeface="Arial" panose="020B0604020202020204" pitchFamily="34" charset="0"/>
              </a:rPr>
              <a:t>system</a:t>
            </a:r>
            <a:r>
              <a:rPr lang="tr-TR" sz="1800" dirty="0">
                <a:effectLst/>
                <a:latin typeface="Calibri" panose="020F0502020204030204" pitchFamily="34" charset="0"/>
                <a:ea typeface="Calibri" panose="020F0502020204030204" pitchFamily="34" charset="0"/>
                <a:cs typeface="Arial" panose="020B0604020202020204" pitchFamily="34" charset="0"/>
              </a:rPr>
              <a:t> </a:t>
            </a:r>
            <a:r>
              <a:rPr lang="tr-TR" sz="1800" dirty="0" err="1">
                <a:effectLst/>
                <a:latin typeface="Calibri" panose="020F0502020204030204" pitchFamily="34" charset="0"/>
                <a:ea typeface="Calibri" panose="020F0502020204030204" pitchFamily="34" charset="0"/>
                <a:cs typeface="Arial" panose="020B0604020202020204" pitchFamily="34" charset="0"/>
              </a:rPr>
              <a:t>domestic</a:t>
            </a:r>
            <a:r>
              <a:rPr lang="tr-TR" sz="1800" dirty="0">
                <a:effectLst/>
                <a:latin typeface="Calibri" panose="020F0502020204030204" pitchFamily="34" charset="0"/>
                <a:ea typeface="Calibri" panose="020F0502020204030204" pitchFamily="34" charset="0"/>
                <a:cs typeface="Arial" panose="020B0604020202020204" pitchFamily="34" charset="0"/>
              </a:rPr>
              <a:t> terminal </a:t>
            </a:r>
            <a:r>
              <a:rPr lang="tr-TR" sz="1800" dirty="0" err="1">
                <a:effectLst/>
                <a:latin typeface="Calibri" panose="020F0502020204030204" pitchFamily="34" charset="0"/>
                <a:ea typeface="Calibri" panose="020F0502020204030204" pitchFamily="34" charset="0"/>
                <a:cs typeface="Arial" panose="020B0604020202020204" pitchFamily="34" charset="0"/>
              </a:rPr>
              <a:t>average</a:t>
            </a:r>
            <a:r>
              <a:rPr lang="tr-TR" dirty="0">
                <a:latin typeface="Calibri" panose="020F0502020204030204" pitchFamily="34" charset="0"/>
                <a:ea typeface="Calibri" panose="020F0502020204030204" pitchFamily="34" charset="0"/>
                <a:cs typeface="Arial" panose="020B0604020202020204" pitchFamily="34" charset="0"/>
              </a:rPr>
              <a:t>:</a:t>
            </a:r>
            <a:r>
              <a:rPr lang="tr-TR" sz="1800" dirty="0">
                <a:effectLst/>
                <a:latin typeface="Calibri" panose="020F0502020204030204" pitchFamily="34" charset="0"/>
                <a:ea typeface="Calibri" panose="020F0502020204030204" pitchFamily="34" charset="0"/>
                <a:cs typeface="Arial" panose="020B0604020202020204" pitchFamily="34" charset="0"/>
              </a:rPr>
              <a:t> </a:t>
            </a:r>
            <a:r>
              <a:rPr lang="tr-TR" sz="1800" b="1" dirty="0">
                <a:effectLst/>
                <a:latin typeface="Calibri" panose="020F0502020204030204" pitchFamily="34" charset="0"/>
                <a:ea typeface="Calibri" panose="020F0502020204030204" pitchFamily="34" charset="0"/>
                <a:cs typeface="Arial" panose="020B0604020202020204" pitchFamily="34" charset="0"/>
              </a:rPr>
              <a:t>4.9 </a:t>
            </a:r>
            <a:r>
              <a:rPr lang="tr-TR" sz="1800" b="1" dirty="0" err="1">
                <a:effectLst/>
                <a:latin typeface="Calibri" panose="020F0502020204030204" pitchFamily="34" charset="0"/>
                <a:ea typeface="Calibri" panose="020F0502020204030204" pitchFamily="34" charset="0"/>
                <a:cs typeface="Arial" panose="020B0604020202020204" pitchFamily="34" charset="0"/>
              </a:rPr>
              <a:t>minutes</a:t>
            </a:r>
            <a:endParaRPr lang="tr-TR" sz="1800" b="1" dirty="0">
              <a:effectLst/>
              <a:latin typeface="Calibri" panose="020F0502020204030204" pitchFamily="34" charset="0"/>
              <a:ea typeface="Calibri" panose="020F0502020204030204" pitchFamily="34" charset="0"/>
              <a:cs typeface="Arial" panose="020B0604020202020204" pitchFamily="34" charset="0"/>
            </a:endParaRPr>
          </a:p>
          <a:p>
            <a:endParaRPr lang="tr-TR" dirty="0">
              <a:latin typeface="Calibri" panose="020F0502020204030204" pitchFamily="34" charset="0"/>
              <a:cs typeface="Arial" panose="020B0604020202020204" pitchFamily="34" charset="0"/>
            </a:endParaRPr>
          </a:p>
          <a:p>
            <a:r>
              <a:rPr lang="tr-TR" dirty="0" err="1">
                <a:latin typeface="Calibri" panose="020F0502020204030204" pitchFamily="34" charset="0"/>
                <a:ea typeface="Calibri" panose="020F0502020204030204" pitchFamily="34" charset="0"/>
                <a:cs typeface="Arial" panose="020B0604020202020204" pitchFamily="34" charset="0"/>
              </a:rPr>
              <a:t>R</a:t>
            </a:r>
            <a:r>
              <a:rPr lang="tr-TR" sz="1800" dirty="0" err="1">
                <a:effectLst/>
                <a:latin typeface="Calibri" panose="020F0502020204030204" pitchFamily="34" charset="0"/>
                <a:ea typeface="Calibri" panose="020F0502020204030204" pitchFamily="34" charset="0"/>
                <a:cs typeface="Arial" panose="020B0604020202020204" pitchFamily="34" charset="0"/>
              </a:rPr>
              <a:t>ecord</a:t>
            </a:r>
            <a:r>
              <a:rPr lang="tr-TR" sz="1800" dirty="0">
                <a:effectLst/>
                <a:latin typeface="Calibri" panose="020F0502020204030204" pitchFamily="34" charset="0"/>
                <a:ea typeface="Calibri" panose="020F0502020204030204" pitchFamily="34" charset="0"/>
                <a:cs typeface="Arial" panose="020B0604020202020204" pitchFamily="34" charset="0"/>
              </a:rPr>
              <a:t> time in </a:t>
            </a:r>
            <a:r>
              <a:rPr lang="tr-TR" sz="1800" dirty="0" err="1">
                <a:effectLst/>
                <a:latin typeface="Calibri" panose="020F0502020204030204" pitchFamily="34" charset="0"/>
                <a:ea typeface="Calibri" panose="020F0502020204030204" pitchFamily="34" charset="0"/>
                <a:cs typeface="Arial" panose="020B0604020202020204" pitchFamily="34" charset="0"/>
              </a:rPr>
              <a:t>system</a:t>
            </a:r>
            <a:r>
              <a:rPr lang="tr-TR" sz="1800" dirty="0">
                <a:effectLst/>
                <a:latin typeface="Calibri" panose="020F0502020204030204" pitchFamily="34" charset="0"/>
                <a:ea typeface="Calibri" panose="020F0502020204030204" pitchFamily="34" charset="0"/>
                <a:cs typeface="Arial" panose="020B0604020202020204" pitchFamily="34" charset="0"/>
              </a:rPr>
              <a:t> </a:t>
            </a:r>
            <a:r>
              <a:rPr lang="tr-TR" sz="1800" dirty="0" err="1">
                <a:effectLst/>
                <a:latin typeface="Calibri" panose="020F0502020204030204" pitchFamily="34" charset="0"/>
                <a:ea typeface="Calibri" panose="020F0502020204030204" pitchFamily="34" charset="0"/>
                <a:cs typeface="Arial" panose="020B0604020202020204" pitchFamily="34" charset="0"/>
              </a:rPr>
              <a:t>international</a:t>
            </a:r>
            <a:r>
              <a:rPr lang="tr-TR" sz="1800" dirty="0">
                <a:effectLst/>
                <a:latin typeface="Calibri" panose="020F0502020204030204" pitchFamily="34" charset="0"/>
                <a:ea typeface="Calibri" panose="020F0502020204030204" pitchFamily="34" charset="0"/>
                <a:cs typeface="Arial" panose="020B0604020202020204" pitchFamily="34" charset="0"/>
              </a:rPr>
              <a:t> terminal </a:t>
            </a:r>
            <a:r>
              <a:rPr lang="tr-TR" sz="1800" dirty="0" err="1">
                <a:effectLst/>
                <a:latin typeface="Calibri" panose="020F0502020204030204" pitchFamily="34" charset="0"/>
                <a:ea typeface="Calibri" panose="020F0502020204030204" pitchFamily="34" charset="0"/>
                <a:cs typeface="Arial" panose="020B0604020202020204" pitchFamily="34" charset="0"/>
              </a:rPr>
              <a:t>average</a:t>
            </a:r>
            <a:r>
              <a:rPr lang="tr-TR" sz="1800" dirty="0">
                <a:effectLst/>
                <a:latin typeface="Calibri" panose="020F0502020204030204" pitchFamily="34" charset="0"/>
                <a:ea typeface="Calibri" panose="020F0502020204030204" pitchFamily="34" charset="0"/>
                <a:cs typeface="Arial" panose="020B0604020202020204" pitchFamily="34" charset="0"/>
              </a:rPr>
              <a:t>: </a:t>
            </a:r>
            <a:r>
              <a:rPr lang="tr-TR" sz="1800" b="1" dirty="0">
                <a:effectLst/>
                <a:latin typeface="Calibri" panose="020F0502020204030204" pitchFamily="34" charset="0"/>
                <a:ea typeface="Calibri" panose="020F0502020204030204" pitchFamily="34" charset="0"/>
                <a:cs typeface="Arial" panose="020B0604020202020204" pitchFamily="34" charset="0"/>
              </a:rPr>
              <a:t>6.1 </a:t>
            </a:r>
            <a:r>
              <a:rPr lang="tr-TR" sz="1800" b="1" dirty="0" err="1">
                <a:effectLst/>
                <a:latin typeface="Calibri" panose="020F0502020204030204" pitchFamily="34" charset="0"/>
                <a:ea typeface="Calibri" panose="020F0502020204030204" pitchFamily="34" charset="0"/>
                <a:cs typeface="Arial" panose="020B0604020202020204" pitchFamily="34" charset="0"/>
              </a:rPr>
              <a:t>minutes</a:t>
            </a:r>
            <a:endParaRPr lang="tr-TR" sz="3600" b="1" dirty="0"/>
          </a:p>
        </p:txBody>
      </p:sp>
      <p:pic>
        <p:nvPicPr>
          <p:cNvPr id="8" name="Content Placeholder 7">
            <a:extLst>
              <a:ext uri="{FF2B5EF4-FFF2-40B4-BE49-F238E27FC236}">
                <a16:creationId xmlns:a16="http://schemas.microsoft.com/office/drawing/2014/main" id="{AC498531-2652-458C-A436-9C99884EDE9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36728" y="142043"/>
            <a:ext cx="6086388" cy="6107837"/>
          </a:xfrm>
        </p:spPr>
      </p:pic>
    </p:spTree>
    <p:extLst>
      <p:ext uri="{BB962C8B-B14F-4D97-AF65-F5344CB8AC3E}">
        <p14:creationId xmlns:p14="http://schemas.microsoft.com/office/powerpoint/2010/main" val="29792355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a:t>Output</a:t>
            </a:r>
            <a:r>
              <a:rPr lang="tr-TR" dirty="0"/>
              <a:t> </a:t>
            </a:r>
            <a:r>
              <a:rPr lang="tr-TR" dirty="0" err="1"/>
              <a:t>analysıs</a:t>
            </a:r>
            <a:endParaRPr lang="tr-TR" dirty="0"/>
          </a:p>
        </p:txBody>
      </p:sp>
      <p:sp>
        <p:nvSpPr>
          <p:cNvPr id="3" name="İçerik Yer Tutucusu 2"/>
          <p:cNvSpPr>
            <a:spLocks noGrp="1"/>
          </p:cNvSpPr>
          <p:nvPr>
            <p:ph idx="1"/>
          </p:nvPr>
        </p:nvSpPr>
        <p:spPr>
          <a:xfrm>
            <a:off x="829702" y="1853553"/>
            <a:ext cx="4647461" cy="4159319"/>
          </a:xfrm>
        </p:spPr>
        <p:txBody>
          <a:bodyPr/>
          <a:lstStyle/>
          <a:p>
            <a:r>
              <a:rPr lang="en-US" dirty="0"/>
              <a:t>Output analysis was used for the analysis of the collected </a:t>
            </a:r>
            <a:r>
              <a:rPr lang="tr-TR" dirty="0"/>
              <a:t>arena </a:t>
            </a:r>
            <a:r>
              <a:rPr lang="tr-TR" dirty="0" err="1"/>
              <a:t>results</a:t>
            </a:r>
            <a:r>
              <a:rPr lang="en-US" dirty="0"/>
              <a:t> and </a:t>
            </a:r>
            <a:r>
              <a:rPr lang="tr-TR" dirty="0" err="1"/>
              <a:t>gives</a:t>
            </a:r>
            <a:r>
              <a:rPr lang="tr-TR" dirty="0"/>
              <a:t> </a:t>
            </a:r>
            <a:r>
              <a:rPr lang="en-US" dirty="0"/>
              <a:t>statistical information.</a:t>
            </a:r>
            <a:endParaRPr lang="tr-TR" dirty="0"/>
          </a:p>
        </p:txBody>
      </p:sp>
      <p:pic>
        <p:nvPicPr>
          <p:cNvPr id="4" name="Resim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94399" y="1784928"/>
            <a:ext cx="5288973" cy="3525982"/>
          </a:xfrm>
          <a:prstGeom prst="rect">
            <a:avLst/>
          </a:prstGeom>
        </p:spPr>
      </p:pic>
    </p:spTree>
    <p:extLst>
      <p:ext uri="{BB962C8B-B14F-4D97-AF65-F5344CB8AC3E}">
        <p14:creationId xmlns:p14="http://schemas.microsoft.com/office/powerpoint/2010/main" val="41006276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a:t>Output</a:t>
            </a:r>
            <a:r>
              <a:rPr lang="tr-TR" dirty="0"/>
              <a:t> </a:t>
            </a:r>
            <a:r>
              <a:rPr lang="tr-TR" dirty="0" err="1"/>
              <a:t>analysıs</a:t>
            </a:r>
            <a:endParaRPr lang="tr-TR" dirty="0"/>
          </a:p>
        </p:txBody>
      </p:sp>
      <p:pic>
        <p:nvPicPr>
          <p:cNvPr id="4" name="İçerik Yer Tutucusu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826277" y="1667211"/>
            <a:ext cx="7856738" cy="4598459"/>
          </a:xfrm>
        </p:spPr>
      </p:pic>
      <p:sp>
        <p:nvSpPr>
          <p:cNvPr id="5" name="Metin kutusu 4"/>
          <p:cNvSpPr txBox="1"/>
          <p:nvPr/>
        </p:nvSpPr>
        <p:spPr>
          <a:xfrm>
            <a:off x="2532993" y="3289738"/>
            <a:ext cx="184731" cy="369332"/>
          </a:xfrm>
          <a:prstGeom prst="rect">
            <a:avLst/>
          </a:prstGeom>
          <a:noFill/>
        </p:spPr>
        <p:txBody>
          <a:bodyPr wrap="none" rtlCol="0">
            <a:spAutoFit/>
          </a:bodyPr>
          <a:lstStyle/>
          <a:p>
            <a:endParaRPr lang="tr-TR" dirty="0"/>
          </a:p>
        </p:txBody>
      </p:sp>
      <p:sp>
        <p:nvSpPr>
          <p:cNvPr id="6" name="Metin kutusu 5"/>
          <p:cNvSpPr txBox="1"/>
          <p:nvPr/>
        </p:nvSpPr>
        <p:spPr>
          <a:xfrm>
            <a:off x="693683" y="2417379"/>
            <a:ext cx="3237186" cy="2585323"/>
          </a:xfrm>
          <a:prstGeom prst="rect">
            <a:avLst/>
          </a:prstGeom>
          <a:noFill/>
        </p:spPr>
        <p:txBody>
          <a:bodyPr wrap="square" rtlCol="0">
            <a:spAutoFit/>
          </a:bodyPr>
          <a:lstStyle/>
          <a:p>
            <a:pPr marL="285750" indent="-285750">
              <a:buFont typeface="Wingdings" panose="05000000000000000000" pitchFamily="2" charset="2"/>
              <a:buChar char="§"/>
            </a:pPr>
            <a:r>
              <a:rPr lang="en-US" dirty="0" err="1"/>
              <a:t>Ouput</a:t>
            </a:r>
            <a:r>
              <a:rPr lang="en-US" dirty="0"/>
              <a:t> analysis examines the data produced in the simulation and creates a bar chart of the data. </a:t>
            </a:r>
            <a:endParaRPr lang="tr-TR" dirty="0"/>
          </a:p>
          <a:p>
            <a:pPr marL="285750" indent="-285750">
              <a:buFont typeface="Wingdings" panose="05000000000000000000" pitchFamily="2" charset="2"/>
              <a:buChar char="§"/>
            </a:pPr>
            <a:endParaRPr lang="tr-TR" dirty="0"/>
          </a:p>
          <a:p>
            <a:pPr marL="285750" indent="-285750">
              <a:buFont typeface="Wingdings" panose="05000000000000000000" pitchFamily="2" charset="2"/>
              <a:buChar char="§"/>
            </a:pPr>
            <a:r>
              <a:rPr lang="en-US" dirty="0"/>
              <a:t>The bar chart on the side is the chart of the time spent by the domestic passengers in the system.</a:t>
            </a:r>
            <a:endParaRPr lang="tr-TR" dirty="0"/>
          </a:p>
        </p:txBody>
      </p:sp>
    </p:spTree>
    <p:extLst>
      <p:ext uri="{BB962C8B-B14F-4D97-AF65-F5344CB8AC3E}">
        <p14:creationId xmlns:p14="http://schemas.microsoft.com/office/powerpoint/2010/main" val="30783958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a:t>Output</a:t>
            </a:r>
            <a:r>
              <a:rPr lang="tr-TR" dirty="0"/>
              <a:t> </a:t>
            </a:r>
            <a:r>
              <a:rPr lang="tr-TR" dirty="0" err="1"/>
              <a:t>analysıs</a:t>
            </a:r>
            <a:endParaRPr lang="tr-TR" dirty="0"/>
          </a:p>
        </p:txBody>
      </p:sp>
      <p:pic>
        <p:nvPicPr>
          <p:cNvPr id="4" name="İçerik Yer Tutucusu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666478" y="1600619"/>
            <a:ext cx="7686482" cy="4810634"/>
          </a:xfrm>
        </p:spPr>
      </p:pic>
      <p:sp>
        <p:nvSpPr>
          <p:cNvPr id="6" name="Metin kutusu 5"/>
          <p:cNvSpPr txBox="1"/>
          <p:nvPr/>
        </p:nvSpPr>
        <p:spPr>
          <a:xfrm>
            <a:off x="839040" y="2508368"/>
            <a:ext cx="2703444" cy="1754326"/>
          </a:xfrm>
          <a:prstGeom prst="rect">
            <a:avLst/>
          </a:prstGeom>
          <a:noFill/>
        </p:spPr>
        <p:txBody>
          <a:bodyPr wrap="square" rtlCol="0">
            <a:spAutoFit/>
          </a:bodyPr>
          <a:lstStyle/>
          <a:p>
            <a:pPr marL="285750" indent="-285750">
              <a:buFont typeface="Wingdings" panose="05000000000000000000" pitchFamily="2" charset="2"/>
              <a:buChar char="§"/>
            </a:pPr>
            <a:r>
              <a:rPr lang="en-US" dirty="0"/>
              <a:t>The bar chart on the side is the chart of the time spent by the </a:t>
            </a:r>
            <a:r>
              <a:rPr lang="tr-TR" dirty="0" err="1"/>
              <a:t>international</a:t>
            </a:r>
            <a:r>
              <a:rPr lang="tr-TR" dirty="0"/>
              <a:t> </a:t>
            </a:r>
            <a:r>
              <a:rPr lang="en-US" dirty="0"/>
              <a:t>passengers in the system.</a:t>
            </a:r>
            <a:endParaRPr lang="tr-TR" dirty="0"/>
          </a:p>
        </p:txBody>
      </p:sp>
    </p:spTree>
    <p:extLst>
      <p:ext uri="{BB962C8B-B14F-4D97-AF65-F5344CB8AC3E}">
        <p14:creationId xmlns:p14="http://schemas.microsoft.com/office/powerpoint/2010/main" val="5422005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a:t>Output</a:t>
            </a:r>
            <a:r>
              <a:rPr lang="tr-TR" dirty="0"/>
              <a:t> </a:t>
            </a:r>
            <a:r>
              <a:rPr lang="tr-TR" dirty="0" err="1"/>
              <a:t>analysıs</a:t>
            </a:r>
            <a:endParaRPr lang="tr-TR" dirty="0"/>
          </a:p>
        </p:txBody>
      </p:sp>
      <p:pic>
        <p:nvPicPr>
          <p:cNvPr id="4" name="İçerik Yer Tutucusu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559945" y="1553592"/>
            <a:ext cx="8495931" cy="4667053"/>
          </a:xfrm>
        </p:spPr>
      </p:pic>
      <p:sp>
        <p:nvSpPr>
          <p:cNvPr id="5" name="Metin kutusu 4"/>
          <p:cNvSpPr txBox="1"/>
          <p:nvPr/>
        </p:nvSpPr>
        <p:spPr>
          <a:xfrm rot="10800000" flipV="1">
            <a:off x="762749" y="2410406"/>
            <a:ext cx="3044537" cy="1200329"/>
          </a:xfrm>
          <a:prstGeom prst="rect">
            <a:avLst/>
          </a:prstGeom>
          <a:noFill/>
        </p:spPr>
        <p:txBody>
          <a:bodyPr wrap="square" rtlCol="0">
            <a:spAutoFit/>
          </a:bodyPr>
          <a:lstStyle/>
          <a:p>
            <a:pPr marL="285750" indent="-285750">
              <a:buFont typeface="Wingdings" panose="05000000000000000000" pitchFamily="2" charset="2"/>
              <a:buChar char="§"/>
            </a:pPr>
            <a:r>
              <a:rPr lang="tr-TR" dirty="0"/>
              <a:t>A</a:t>
            </a:r>
            <a:r>
              <a:rPr lang="en-US" dirty="0"/>
              <a:t> histogram was created with the numbers of</a:t>
            </a:r>
            <a:endParaRPr lang="tr-TR" dirty="0"/>
          </a:p>
          <a:p>
            <a:r>
              <a:rPr lang="en-US" dirty="0"/>
              <a:t> </a:t>
            </a:r>
            <a:r>
              <a:rPr lang="tr-TR" dirty="0"/>
              <a:t>    </a:t>
            </a:r>
            <a:r>
              <a:rPr lang="en-US" dirty="0"/>
              <a:t>domestic passengers.</a:t>
            </a:r>
            <a:endParaRPr lang="tr-TR" dirty="0"/>
          </a:p>
        </p:txBody>
      </p:sp>
      <p:sp>
        <p:nvSpPr>
          <p:cNvPr id="6" name="Metin kutusu 5"/>
          <p:cNvSpPr txBox="1"/>
          <p:nvPr/>
        </p:nvSpPr>
        <p:spPr>
          <a:xfrm>
            <a:off x="4876801" y="6145276"/>
            <a:ext cx="5097518" cy="369332"/>
          </a:xfrm>
          <a:prstGeom prst="rect">
            <a:avLst/>
          </a:prstGeom>
          <a:noFill/>
        </p:spPr>
        <p:txBody>
          <a:bodyPr wrap="square" rtlCol="0">
            <a:spAutoFit/>
          </a:bodyPr>
          <a:lstStyle/>
          <a:p>
            <a:r>
              <a:rPr lang="en-US" dirty="0"/>
              <a:t>N</a:t>
            </a:r>
            <a:r>
              <a:rPr lang="tr-TR" dirty="0" err="1"/>
              <a:t>umber</a:t>
            </a:r>
            <a:r>
              <a:rPr lang="en-US" dirty="0"/>
              <a:t> of Domestic </a:t>
            </a:r>
            <a:r>
              <a:rPr lang="tr-TR" dirty="0"/>
              <a:t>P</a:t>
            </a:r>
            <a:r>
              <a:rPr lang="en-US" dirty="0" err="1"/>
              <a:t>assengers</a:t>
            </a:r>
            <a:r>
              <a:rPr lang="en-US" dirty="0"/>
              <a:t> Histogram</a:t>
            </a:r>
            <a:endParaRPr lang="tr-TR" dirty="0"/>
          </a:p>
        </p:txBody>
      </p:sp>
    </p:spTree>
    <p:extLst>
      <p:ext uri="{BB962C8B-B14F-4D97-AF65-F5344CB8AC3E}">
        <p14:creationId xmlns:p14="http://schemas.microsoft.com/office/powerpoint/2010/main" val="4866067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a:t>Output</a:t>
            </a:r>
            <a:r>
              <a:rPr lang="tr-TR" dirty="0"/>
              <a:t> </a:t>
            </a:r>
            <a:r>
              <a:rPr lang="tr-TR" dirty="0" err="1"/>
              <a:t>analysıs</a:t>
            </a:r>
            <a:endParaRPr lang="tr-TR" dirty="0"/>
          </a:p>
        </p:txBody>
      </p:sp>
      <p:pic>
        <p:nvPicPr>
          <p:cNvPr id="4" name="İçerik Yer Tutucusu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171853" y="1571348"/>
            <a:ext cx="10058400" cy="4369624"/>
          </a:xfrm>
        </p:spPr>
      </p:pic>
      <p:sp>
        <p:nvSpPr>
          <p:cNvPr id="5" name="Metin kutusu 4"/>
          <p:cNvSpPr txBox="1"/>
          <p:nvPr/>
        </p:nvSpPr>
        <p:spPr>
          <a:xfrm>
            <a:off x="3100551" y="5940972"/>
            <a:ext cx="5833242" cy="646331"/>
          </a:xfrm>
          <a:prstGeom prst="rect">
            <a:avLst/>
          </a:prstGeom>
          <a:noFill/>
        </p:spPr>
        <p:txBody>
          <a:bodyPr wrap="square" rtlCol="0">
            <a:spAutoFit/>
          </a:bodyPr>
          <a:lstStyle/>
          <a:p>
            <a:r>
              <a:rPr lang="en-US" dirty="0"/>
              <a:t>N</a:t>
            </a:r>
            <a:r>
              <a:rPr lang="tr-TR" dirty="0" err="1"/>
              <a:t>umber</a:t>
            </a:r>
            <a:r>
              <a:rPr lang="en-US" dirty="0"/>
              <a:t> o</a:t>
            </a:r>
            <a:r>
              <a:rPr lang="tr-TR" dirty="0"/>
              <a:t>f International</a:t>
            </a:r>
            <a:r>
              <a:rPr lang="en-US" dirty="0"/>
              <a:t> </a:t>
            </a:r>
            <a:r>
              <a:rPr lang="tr-TR" dirty="0"/>
              <a:t>P</a:t>
            </a:r>
            <a:r>
              <a:rPr lang="en-US" dirty="0" err="1"/>
              <a:t>assengers</a:t>
            </a:r>
            <a:r>
              <a:rPr lang="en-US" dirty="0"/>
              <a:t> Histogram</a:t>
            </a:r>
            <a:endParaRPr lang="tr-TR" dirty="0"/>
          </a:p>
          <a:p>
            <a:endParaRPr lang="tr-TR" dirty="0"/>
          </a:p>
        </p:txBody>
      </p:sp>
    </p:spTree>
    <p:extLst>
      <p:ext uri="{BB962C8B-B14F-4D97-AF65-F5344CB8AC3E}">
        <p14:creationId xmlns:p14="http://schemas.microsoft.com/office/powerpoint/2010/main" val="3402175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a:t>Output</a:t>
            </a:r>
            <a:r>
              <a:rPr lang="tr-TR" dirty="0"/>
              <a:t> </a:t>
            </a:r>
            <a:r>
              <a:rPr lang="tr-TR" dirty="0" err="1"/>
              <a:t>analysıs</a:t>
            </a:r>
            <a:endParaRPr lang="tr-TR" dirty="0"/>
          </a:p>
        </p:txBody>
      </p:sp>
      <p:pic>
        <p:nvPicPr>
          <p:cNvPr id="4" name="İçerik Yer Tutucusu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879542" y="1660124"/>
            <a:ext cx="7599285" cy="4637087"/>
          </a:xfrm>
        </p:spPr>
      </p:pic>
      <p:sp>
        <p:nvSpPr>
          <p:cNvPr id="5" name="Metin kutusu 4"/>
          <p:cNvSpPr txBox="1"/>
          <p:nvPr/>
        </p:nvSpPr>
        <p:spPr>
          <a:xfrm>
            <a:off x="914399" y="2278216"/>
            <a:ext cx="2858611" cy="1477328"/>
          </a:xfrm>
          <a:prstGeom prst="rect">
            <a:avLst/>
          </a:prstGeom>
          <a:noFill/>
        </p:spPr>
        <p:txBody>
          <a:bodyPr wrap="square" rtlCol="0">
            <a:spAutoFit/>
          </a:bodyPr>
          <a:lstStyle/>
          <a:p>
            <a:endParaRPr lang="tr-TR" dirty="0"/>
          </a:p>
          <a:p>
            <a:pPr marL="285750" indent="-285750">
              <a:buFont typeface="Wingdings" panose="05000000000000000000" pitchFamily="2" charset="2"/>
              <a:buChar char="§"/>
            </a:pPr>
            <a:r>
              <a:rPr lang="tr-TR" dirty="0" err="1"/>
              <a:t>Comperison</a:t>
            </a:r>
            <a:r>
              <a:rPr lang="tr-TR" dirty="0"/>
              <a:t> </a:t>
            </a:r>
            <a:r>
              <a:rPr lang="en-US" dirty="0"/>
              <a:t>of </a:t>
            </a:r>
            <a:r>
              <a:rPr lang="tr-TR" dirty="0" err="1"/>
              <a:t>number</a:t>
            </a:r>
            <a:r>
              <a:rPr lang="tr-TR" dirty="0"/>
              <a:t> of </a:t>
            </a:r>
            <a:r>
              <a:rPr lang="en-US" dirty="0"/>
              <a:t>international and domestic passengers</a:t>
            </a:r>
            <a:endParaRPr lang="tr-TR" dirty="0"/>
          </a:p>
        </p:txBody>
      </p:sp>
    </p:spTree>
    <p:extLst>
      <p:ext uri="{BB962C8B-B14F-4D97-AF65-F5344CB8AC3E}">
        <p14:creationId xmlns:p14="http://schemas.microsoft.com/office/powerpoint/2010/main" val="41595612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endParaRPr lang="tr-TR"/>
          </a:p>
        </p:txBody>
      </p:sp>
      <p:pic>
        <p:nvPicPr>
          <p:cNvPr id="4" name="İçerik Yer Tutucusu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262909" y="484632"/>
            <a:ext cx="7459229" cy="5594422"/>
          </a:xfrm>
        </p:spPr>
      </p:pic>
    </p:spTree>
    <p:extLst>
      <p:ext uri="{BB962C8B-B14F-4D97-AF65-F5344CB8AC3E}">
        <p14:creationId xmlns:p14="http://schemas.microsoft.com/office/powerpoint/2010/main" val="258234973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Yazı Tipi">
  <a:themeElements>
    <a:clrScheme name="Wood Type Yazı Tipi">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Yazı Tipi">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Yazı Tipi">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TM03090434[[fn=Tahta Yazı]]</Template>
  <TotalTime>379</TotalTime>
  <Words>743</Words>
  <Application>Microsoft Office PowerPoint</Application>
  <PresentationFormat>Widescreen</PresentationFormat>
  <Paragraphs>91</Paragraphs>
  <Slides>22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Calibri</vt:lpstr>
      <vt:lpstr>Rockwell</vt:lpstr>
      <vt:lpstr>Rockwell Condensed</vt:lpstr>
      <vt:lpstr>Wingdings</vt:lpstr>
      <vt:lpstr>Wood Type Yazı Tipi</vt:lpstr>
      <vt:lpstr>Aırport system</vt:lpstr>
      <vt:lpstr>abstract</vt:lpstr>
      <vt:lpstr>Components of the system</vt:lpstr>
      <vt:lpstr>Components of the system</vt:lpstr>
      <vt:lpstr>Objective of the system </vt:lpstr>
      <vt:lpstr>Data collectıon</vt:lpstr>
      <vt:lpstr>Data collectıon</vt:lpstr>
      <vt:lpstr>dıstrıbutıon determınatıon usıng ınput analyzer</vt:lpstr>
      <vt:lpstr>dıstrıbutıon determınatıon usıng ınput analyzer</vt:lpstr>
      <vt:lpstr>Arena model</vt:lpstr>
      <vt:lpstr>Arena model</vt:lpstr>
      <vt:lpstr>Arena results</vt:lpstr>
      <vt:lpstr>Arena results</vt:lpstr>
      <vt:lpstr>Arena results</vt:lpstr>
      <vt:lpstr>Arena results</vt:lpstr>
      <vt:lpstr>Output analysıs</vt:lpstr>
      <vt:lpstr>Output analysıs</vt:lpstr>
      <vt:lpstr>Output analysıs</vt:lpstr>
      <vt:lpstr>Output analysıs</vt:lpstr>
      <vt:lpstr>Output analysıs</vt:lpstr>
      <vt:lpstr>Output analysıs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Aırport</dc:title>
  <dc:creator>Gülşah ÖLMEZ</dc:creator>
  <cp:lastModifiedBy>Muhammed Emin</cp:lastModifiedBy>
  <cp:revision>21</cp:revision>
  <dcterms:created xsi:type="dcterms:W3CDTF">2021-12-25T16:37:29Z</dcterms:created>
  <dcterms:modified xsi:type="dcterms:W3CDTF">2021-12-26T12:00:11Z</dcterms:modified>
</cp:coreProperties>
</file>